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9" r:id="rId4"/>
    <p:sldId id="261" r:id="rId5"/>
    <p:sldId id="262" r:id="rId6"/>
    <p:sldId id="270" r:id="rId7"/>
    <p:sldId id="273" r:id="rId8"/>
    <p:sldId id="275" r:id="rId9"/>
    <p:sldId id="281" r:id="rId10"/>
    <p:sldId id="269" r:id="rId11"/>
    <p:sldId id="268" r:id="rId12"/>
    <p:sldId id="266" r:id="rId13"/>
    <p:sldId id="282" r:id="rId14"/>
    <p:sldId id="283" r:id="rId15"/>
    <p:sldId id="263" r:id="rId16"/>
    <p:sldId id="271" r:id="rId17"/>
    <p:sldId id="296" r:id="rId18"/>
    <p:sldId id="272" r:id="rId19"/>
    <p:sldId id="279" r:id="rId20"/>
    <p:sldId id="274" r:id="rId21"/>
    <p:sldId id="276" r:id="rId22"/>
    <p:sldId id="277" r:id="rId23"/>
    <p:sldId id="278" r:id="rId24"/>
    <p:sldId id="280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4106C6-13FA-0040-911A-ACD4B6C52692}">
          <p14:sldIdLst>
            <p14:sldId id="256"/>
          </p14:sldIdLst>
        </p14:section>
        <p14:section name="Project Overview" id="{0860496E-1037-614E-8447-07C81D505447}">
          <p14:sldIdLst>
            <p14:sldId id="260"/>
          </p14:sldIdLst>
        </p14:section>
        <p14:section name="Data Summary" id="{A31AC615-A382-6848-A433-C4E82A877CFC}">
          <p14:sldIdLst>
            <p14:sldId id="259"/>
            <p14:sldId id="261"/>
            <p14:sldId id="262"/>
          </p14:sldIdLst>
        </p14:section>
        <p14:section name="Respiratory / Asthma" id="{4E22ACB2-0260-914F-A19A-83161D8E8BCF}">
          <p14:sldIdLst>
            <p14:sldId id="270"/>
            <p14:sldId id="273"/>
            <p14:sldId id="275"/>
            <p14:sldId id="281"/>
          </p14:sldIdLst>
        </p14:section>
        <p14:section name="Respiratory / Asthma Prediction Models" id="{D7CD3533-4209-674E-AAD5-A8C639C74E05}">
          <p14:sldIdLst>
            <p14:sldId id="269"/>
            <p14:sldId id="268"/>
            <p14:sldId id="266"/>
            <p14:sldId id="282"/>
            <p14:sldId id="283"/>
          </p14:sldIdLst>
        </p14:section>
        <p14:section name="Psych Meds" id="{AA515644-CCAB-2D44-8A2A-C3BEB22C0BEC}">
          <p14:sldIdLst>
            <p14:sldId id="263"/>
            <p14:sldId id="271"/>
            <p14:sldId id="296"/>
          </p14:sldIdLst>
        </p14:section>
        <p14:section name="Pain Meds" id="{92DC9AED-FB86-5D46-8292-6ADEA5DF722E}">
          <p14:sldIdLst>
            <p14:sldId id="272"/>
            <p14:sldId id="279"/>
          </p14:sldIdLst>
        </p14:section>
        <p14:section name="Combined" id="{3D33D836-68F8-E74F-94EE-A2D343DEA5F1}">
          <p14:sldIdLst>
            <p14:sldId id="274"/>
          </p14:sldIdLst>
        </p14:section>
        <p14:section name="Final Thoughts" id="{6DF6B79C-E274-E541-A82A-9AA99D20FD2D}">
          <p14:sldIdLst>
            <p14:sldId id="276"/>
            <p14:sldId id="277"/>
            <p14:sldId id="278"/>
            <p14:sldId id="280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96"/>
  </p:normalViewPr>
  <p:slideViewPr>
    <p:cSldViewPr snapToGrid="0">
      <p:cViewPr>
        <p:scale>
          <a:sx n="90" d="100"/>
          <a:sy n="90" d="100"/>
        </p:scale>
        <p:origin x="14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2D3958-4BE4-41BD-8380-0405F2D7837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9DF23F-2BDD-485D-BAFF-F0FAF3540560}">
      <dgm:prSet/>
      <dgm:spPr/>
      <dgm:t>
        <a:bodyPr/>
        <a:lstStyle/>
        <a:p>
          <a:r>
            <a:rPr lang="en-US"/>
            <a:t>Dataset constraints</a:t>
          </a:r>
        </a:p>
      </dgm:t>
    </dgm:pt>
    <dgm:pt modelId="{BD273E66-65F0-4A93-8ECD-21882F438699}" type="parTrans" cxnId="{D24D9CA7-A532-4D11-A4E3-367A7842BD95}">
      <dgm:prSet/>
      <dgm:spPr/>
      <dgm:t>
        <a:bodyPr/>
        <a:lstStyle/>
        <a:p>
          <a:endParaRPr lang="en-US"/>
        </a:p>
      </dgm:t>
    </dgm:pt>
    <dgm:pt modelId="{B65BCDCC-B374-4CAE-BAA3-D8EEE4351DEA}" type="sibTrans" cxnId="{D24D9CA7-A532-4D11-A4E3-367A7842BD95}">
      <dgm:prSet/>
      <dgm:spPr/>
      <dgm:t>
        <a:bodyPr/>
        <a:lstStyle/>
        <a:p>
          <a:endParaRPr lang="en-US"/>
        </a:p>
      </dgm:t>
    </dgm:pt>
    <dgm:pt modelId="{5F630125-C89C-4879-BD1F-E8C2B7E399EB}">
      <dgm:prSet/>
      <dgm:spPr/>
      <dgm:t>
        <a:bodyPr/>
        <a:lstStyle/>
        <a:p>
          <a:r>
            <a:rPr lang="en-US"/>
            <a:t>Generalizability</a:t>
          </a:r>
        </a:p>
      </dgm:t>
    </dgm:pt>
    <dgm:pt modelId="{DA1060BD-31AB-4E52-8DD3-3A053A964CD6}" type="parTrans" cxnId="{FB503D41-FB0D-4F0E-84CF-26DFB968F736}">
      <dgm:prSet/>
      <dgm:spPr/>
      <dgm:t>
        <a:bodyPr/>
        <a:lstStyle/>
        <a:p>
          <a:endParaRPr lang="en-US"/>
        </a:p>
      </dgm:t>
    </dgm:pt>
    <dgm:pt modelId="{6F273A70-6FCA-4A19-9935-D4CD864E4E66}" type="sibTrans" cxnId="{FB503D41-FB0D-4F0E-84CF-26DFB968F736}">
      <dgm:prSet/>
      <dgm:spPr/>
      <dgm:t>
        <a:bodyPr/>
        <a:lstStyle/>
        <a:p>
          <a:endParaRPr lang="en-US"/>
        </a:p>
      </dgm:t>
    </dgm:pt>
    <dgm:pt modelId="{28E1D5EF-4FCC-4191-8E1A-120E4FA30DC5}">
      <dgm:prSet/>
      <dgm:spPr/>
      <dgm:t>
        <a:bodyPr/>
        <a:lstStyle/>
        <a:p>
          <a:r>
            <a:rPr lang="en-US"/>
            <a:t>Time limitations for advanced modeling</a:t>
          </a:r>
        </a:p>
      </dgm:t>
    </dgm:pt>
    <dgm:pt modelId="{B18710D1-DD71-4EC3-87D9-E86AB9B4FC21}" type="parTrans" cxnId="{94C7048C-0977-480C-8680-288250325EF8}">
      <dgm:prSet/>
      <dgm:spPr/>
      <dgm:t>
        <a:bodyPr/>
        <a:lstStyle/>
        <a:p>
          <a:endParaRPr lang="en-US"/>
        </a:p>
      </dgm:t>
    </dgm:pt>
    <dgm:pt modelId="{23464B69-906C-4F27-84B3-91E3291CCBB5}" type="sibTrans" cxnId="{94C7048C-0977-480C-8680-288250325EF8}">
      <dgm:prSet/>
      <dgm:spPr/>
      <dgm:t>
        <a:bodyPr/>
        <a:lstStyle/>
        <a:p>
          <a:endParaRPr lang="en-US"/>
        </a:p>
      </dgm:t>
    </dgm:pt>
    <dgm:pt modelId="{ED23C864-F167-7D47-8599-01994F79D5B8}" type="pres">
      <dgm:prSet presAssocID="{482D3958-4BE4-41BD-8380-0405F2D783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D7F604-13C9-9447-8B85-EB8ECBC7CC82}" type="pres">
      <dgm:prSet presAssocID="{FC9DF23F-2BDD-485D-BAFF-F0FAF3540560}" presName="hierRoot1" presStyleCnt="0"/>
      <dgm:spPr/>
    </dgm:pt>
    <dgm:pt modelId="{96A99693-2CFC-6B47-B557-1D7555978338}" type="pres">
      <dgm:prSet presAssocID="{FC9DF23F-2BDD-485D-BAFF-F0FAF3540560}" presName="composite" presStyleCnt="0"/>
      <dgm:spPr/>
    </dgm:pt>
    <dgm:pt modelId="{DC76943A-CC05-7943-AAA3-D8C6B5AFCE48}" type="pres">
      <dgm:prSet presAssocID="{FC9DF23F-2BDD-485D-BAFF-F0FAF3540560}" presName="background" presStyleLbl="node0" presStyleIdx="0" presStyleCnt="3"/>
      <dgm:spPr/>
    </dgm:pt>
    <dgm:pt modelId="{F73C4FD9-4D14-6C4A-8ED0-60D4D393C13D}" type="pres">
      <dgm:prSet presAssocID="{FC9DF23F-2BDD-485D-BAFF-F0FAF3540560}" presName="text" presStyleLbl="fgAcc0" presStyleIdx="0" presStyleCnt="3">
        <dgm:presLayoutVars>
          <dgm:chPref val="3"/>
        </dgm:presLayoutVars>
      </dgm:prSet>
      <dgm:spPr/>
    </dgm:pt>
    <dgm:pt modelId="{C169EFA7-1B22-B34B-91E5-E50FC629578E}" type="pres">
      <dgm:prSet presAssocID="{FC9DF23F-2BDD-485D-BAFF-F0FAF3540560}" presName="hierChild2" presStyleCnt="0"/>
      <dgm:spPr/>
    </dgm:pt>
    <dgm:pt modelId="{A43E79A0-B309-DB4E-B5B9-2A1582AEE16A}" type="pres">
      <dgm:prSet presAssocID="{5F630125-C89C-4879-BD1F-E8C2B7E399EB}" presName="hierRoot1" presStyleCnt="0"/>
      <dgm:spPr/>
    </dgm:pt>
    <dgm:pt modelId="{97691AA3-FDC0-5D46-8DCA-3DF4E0FEC0CC}" type="pres">
      <dgm:prSet presAssocID="{5F630125-C89C-4879-BD1F-E8C2B7E399EB}" presName="composite" presStyleCnt="0"/>
      <dgm:spPr/>
    </dgm:pt>
    <dgm:pt modelId="{A208679F-FC2B-0E4E-B47D-B9758B069EB6}" type="pres">
      <dgm:prSet presAssocID="{5F630125-C89C-4879-BD1F-E8C2B7E399EB}" presName="background" presStyleLbl="node0" presStyleIdx="1" presStyleCnt="3"/>
      <dgm:spPr/>
    </dgm:pt>
    <dgm:pt modelId="{947E50D6-36B0-A048-9380-4F8E49CD2B82}" type="pres">
      <dgm:prSet presAssocID="{5F630125-C89C-4879-BD1F-E8C2B7E399EB}" presName="text" presStyleLbl="fgAcc0" presStyleIdx="1" presStyleCnt="3">
        <dgm:presLayoutVars>
          <dgm:chPref val="3"/>
        </dgm:presLayoutVars>
      </dgm:prSet>
      <dgm:spPr/>
    </dgm:pt>
    <dgm:pt modelId="{F80D3F57-A30B-7A4B-AFD0-A96174EB2955}" type="pres">
      <dgm:prSet presAssocID="{5F630125-C89C-4879-BD1F-E8C2B7E399EB}" presName="hierChild2" presStyleCnt="0"/>
      <dgm:spPr/>
    </dgm:pt>
    <dgm:pt modelId="{D6C0D725-979F-0549-87D2-AEE16BBA93ED}" type="pres">
      <dgm:prSet presAssocID="{28E1D5EF-4FCC-4191-8E1A-120E4FA30DC5}" presName="hierRoot1" presStyleCnt="0"/>
      <dgm:spPr/>
    </dgm:pt>
    <dgm:pt modelId="{E7700C4B-11CB-2B4F-8AB4-03E0450C15B0}" type="pres">
      <dgm:prSet presAssocID="{28E1D5EF-4FCC-4191-8E1A-120E4FA30DC5}" presName="composite" presStyleCnt="0"/>
      <dgm:spPr/>
    </dgm:pt>
    <dgm:pt modelId="{3B079F63-2094-C04D-A16D-CE3625CFAA9A}" type="pres">
      <dgm:prSet presAssocID="{28E1D5EF-4FCC-4191-8E1A-120E4FA30DC5}" presName="background" presStyleLbl="node0" presStyleIdx="2" presStyleCnt="3"/>
      <dgm:spPr/>
    </dgm:pt>
    <dgm:pt modelId="{B5E0A41D-DACB-7042-99FB-96F34AAB2FCD}" type="pres">
      <dgm:prSet presAssocID="{28E1D5EF-4FCC-4191-8E1A-120E4FA30DC5}" presName="text" presStyleLbl="fgAcc0" presStyleIdx="2" presStyleCnt="3">
        <dgm:presLayoutVars>
          <dgm:chPref val="3"/>
        </dgm:presLayoutVars>
      </dgm:prSet>
      <dgm:spPr/>
    </dgm:pt>
    <dgm:pt modelId="{441F12D5-0D61-6845-BA46-EEABAB7F4377}" type="pres">
      <dgm:prSet presAssocID="{28E1D5EF-4FCC-4191-8E1A-120E4FA30DC5}" presName="hierChild2" presStyleCnt="0"/>
      <dgm:spPr/>
    </dgm:pt>
  </dgm:ptLst>
  <dgm:cxnLst>
    <dgm:cxn modelId="{DE00031B-C3E1-BA46-97B8-C9913447CF79}" type="presOf" srcId="{5F630125-C89C-4879-BD1F-E8C2B7E399EB}" destId="{947E50D6-36B0-A048-9380-4F8E49CD2B82}" srcOrd="0" destOrd="0" presId="urn:microsoft.com/office/officeart/2005/8/layout/hierarchy1"/>
    <dgm:cxn modelId="{FB503D41-FB0D-4F0E-84CF-26DFB968F736}" srcId="{482D3958-4BE4-41BD-8380-0405F2D7837B}" destId="{5F630125-C89C-4879-BD1F-E8C2B7E399EB}" srcOrd="1" destOrd="0" parTransId="{DA1060BD-31AB-4E52-8DD3-3A053A964CD6}" sibTransId="{6F273A70-6FCA-4A19-9935-D4CD864E4E66}"/>
    <dgm:cxn modelId="{589FD86E-CDB6-9540-86A8-EDB0A9DB5461}" type="presOf" srcId="{28E1D5EF-4FCC-4191-8E1A-120E4FA30DC5}" destId="{B5E0A41D-DACB-7042-99FB-96F34AAB2FCD}" srcOrd="0" destOrd="0" presId="urn:microsoft.com/office/officeart/2005/8/layout/hierarchy1"/>
    <dgm:cxn modelId="{94C7048C-0977-480C-8680-288250325EF8}" srcId="{482D3958-4BE4-41BD-8380-0405F2D7837B}" destId="{28E1D5EF-4FCC-4191-8E1A-120E4FA30DC5}" srcOrd="2" destOrd="0" parTransId="{B18710D1-DD71-4EC3-87D9-E86AB9B4FC21}" sibTransId="{23464B69-906C-4F27-84B3-91E3291CCBB5}"/>
    <dgm:cxn modelId="{D4DE388F-1B26-4D45-9100-5A52D20C5326}" type="presOf" srcId="{482D3958-4BE4-41BD-8380-0405F2D7837B}" destId="{ED23C864-F167-7D47-8599-01994F79D5B8}" srcOrd="0" destOrd="0" presId="urn:microsoft.com/office/officeart/2005/8/layout/hierarchy1"/>
    <dgm:cxn modelId="{D24D9CA7-A532-4D11-A4E3-367A7842BD95}" srcId="{482D3958-4BE4-41BD-8380-0405F2D7837B}" destId="{FC9DF23F-2BDD-485D-BAFF-F0FAF3540560}" srcOrd="0" destOrd="0" parTransId="{BD273E66-65F0-4A93-8ECD-21882F438699}" sibTransId="{B65BCDCC-B374-4CAE-BAA3-D8EEE4351DEA}"/>
    <dgm:cxn modelId="{16F7E1CC-3859-1E43-8BB1-38548A402D81}" type="presOf" srcId="{FC9DF23F-2BDD-485D-BAFF-F0FAF3540560}" destId="{F73C4FD9-4D14-6C4A-8ED0-60D4D393C13D}" srcOrd="0" destOrd="0" presId="urn:microsoft.com/office/officeart/2005/8/layout/hierarchy1"/>
    <dgm:cxn modelId="{CEE97947-BB1D-B74D-8F0B-1F3D82A60C64}" type="presParOf" srcId="{ED23C864-F167-7D47-8599-01994F79D5B8}" destId="{25D7F604-13C9-9447-8B85-EB8ECBC7CC82}" srcOrd="0" destOrd="0" presId="urn:microsoft.com/office/officeart/2005/8/layout/hierarchy1"/>
    <dgm:cxn modelId="{419B70C5-05AB-1E4B-9589-A4945E8D9FD2}" type="presParOf" srcId="{25D7F604-13C9-9447-8B85-EB8ECBC7CC82}" destId="{96A99693-2CFC-6B47-B557-1D7555978338}" srcOrd="0" destOrd="0" presId="urn:microsoft.com/office/officeart/2005/8/layout/hierarchy1"/>
    <dgm:cxn modelId="{5CCED511-A3EB-FA45-99CF-DF2DEE2E657E}" type="presParOf" srcId="{96A99693-2CFC-6B47-B557-1D7555978338}" destId="{DC76943A-CC05-7943-AAA3-D8C6B5AFCE48}" srcOrd="0" destOrd="0" presId="urn:microsoft.com/office/officeart/2005/8/layout/hierarchy1"/>
    <dgm:cxn modelId="{9C852766-4ADD-FD4E-AFEC-00BB0147F9B4}" type="presParOf" srcId="{96A99693-2CFC-6B47-B557-1D7555978338}" destId="{F73C4FD9-4D14-6C4A-8ED0-60D4D393C13D}" srcOrd="1" destOrd="0" presId="urn:microsoft.com/office/officeart/2005/8/layout/hierarchy1"/>
    <dgm:cxn modelId="{0B814746-1C2D-BF48-B79E-04D8EF80F10A}" type="presParOf" srcId="{25D7F604-13C9-9447-8B85-EB8ECBC7CC82}" destId="{C169EFA7-1B22-B34B-91E5-E50FC629578E}" srcOrd="1" destOrd="0" presId="urn:microsoft.com/office/officeart/2005/8/layout/hierarchy1"/>
    <dgm:cxn modelId="{2B14E086-EE00-B84C-B887-67D3DF8E6887}" type="presParOf" srcId="{ED23C864-F167-7D47-8599-01994F79D5B8}" destId="{A43E79A0-B309-DB4E-B5B9-2A1582AEE16A}" srcOrd="1" destOrd="0" presId="urn:microsoft.com/office/officeart/2005/8/layout/hierarchy1"/>
    <dgm:cxn modelId="{A995FDC3-76D8-4743-862B-44F7B2C7F211}" type="presParOf" srcId="{A43E79A0-B309-DB4E-B5B9-2A1582AEE16A}" destId="{97691AA3-FDC0-5D46-8DCA-3DF4E0FEC0CC}" srcOrd="0" destOrd="0" presId="urn:microsoft.com/office/officeart/2005/8/layout/hierarchy1"/>
    <dgm:cxn modelId="{CD721BA2-53A8-6647-B5D4-0EB65095D932}" type="presParOf" srcId="{97691AA3-FDC0-5D46-8DCA-3DF4E0FEC0CC}" destId="{A208679F-FC2B-0E4E-B47D-B9758B069EB6}" srcOrd="0" destOrd="0" presId="urn:microsoft.com/office/officeart/2005/8/layout/hierarchy1"/>
    <dgm:cxn modelId="{7ADA2A28-4F7C-2F4A-AA42-E394499A107C}" type="presParOf" srcId="{97691AA3-FDC0-5D46-8DCA-3DF4E0FEC0CC}" destId="{947E50D6-36B0-A048-9380-4F8E49CD2B82}" srcOrd="1" destOrd="0" presId="urn:microsoft.com/office/officeart/2005/8/layout/hierarchy1"/>
    <dgm:cxn modelId="{38C0ED2F-0268-BD48-B01C-881FEEFA5343}" type="presParOf" srcId="{A43E79A0-B309-DB4E-B5B9-2A1582AEE16A}" destId="{F80D3F57-A30B-7A4B-AFD0-A96174EB2955}" srcOrd="1" destOrd="0" presId="urn:microsoft.com/office/officeart/2005/8/layout/hierarchy1"/>
    <dgm:cxn modelId="{3BBC6136-2E22-A54B-89FE-22687DDEB2F7}" type="presParOf" srcId="{ED23C864-F167-7D47-8599-01994F79D5B8}" destId="{D6C0D725-979F-0549-87D2-AEE16BBA93ED}" srcOrd="2" destOrd="0" presId="urn:microsoft.com/office/officeart/2005/8/layout/hierarchy1"/>
    <dgm:cxn modelId="{F665835B-9AE7-DB4E-8838-C32875C19D24}" type="presParOf" srcId="{D6C0D725-979F-0549-87D2-AEE16BBA93ED}" destId="{E7700C4B-11CB-2B4F-8AB4-03E0450C15B0}" srcOrd="0" destOrd="0" presId="urn:microsoft.com/office/officeart/2005/8/layout/hierarchy1"/>
    <dgm:cxn modelId="{227023B1-8C87-954E-AA22-0146478507F3}" type="presParOf" srcId="{E7700C4B-11CB-2B4F-8AB4-03E0450C15B0}" destId="{3B079F63-2094-C04D-A16D-CE3625CFAA9A}" srcOrd="0" destOrd="0" presId="urn:microsoft.com/office/officeart/2005/8/layout/hierarchy1"/>
    <dgm:cxn modelId="{22210BB8-D859-1E4E-A825-C4CF318FFBAC}" type="presParOf" srcId="{E7700C4B-11CB-2B4F-8AB4-03E0450C15B0}" destId="{B5E0A41D-DACB-7042-99FB-96F34AAB2FCD}" srcOrd="1" destOrd="0" presId="urn:microsoft.com/office/officeart/2005/8/layout/hierarchy1"/>
    <dgm:cxn modelId="{F178D10F-3E1F-B048-81E4-75D37C0C5A99}" type="presParOf" srcId="{D6C0D725-979F-0549-87D2-AEE16BBA93ED}" destId="{441F12D5-0D61-6845-BA46-EEABAB7F43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97D2CC-4288-4367-B483-33EC890DDC43}" type="doc">
      <dgm:prSet loTypeId="urn:microsoft.com/office/officeart/2005/8/layout/vProcess5" loCatId="process" qsTypeId="urn:microsoft.com/office/officeart/2005/8/quickstyle/simple4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450A1ACB-8187-4CBA-8508-5BCDD5873FCE}">
      <dgm:prSet/>
      <dgm:spPr/>
      <dgm:t>
        <a:bodyPr/>
        <a:lstStyle/>
        <a:p>
          <a:r>
            <a:rPr lang="en-US"/>
            <a:t>Predictive modeling</a:t>
          </a:r>
        </a:p>
      </dgm:t>
    </dgm:pt>
    <dgm:pt modelId="{9A1333BB-FF5E-40E4-A4C4-D7DD74367CA4}" type="parTrans" cxnId="{1A2F620A-ED07-46D6-8710-ABE853D7BC8C}">
      <dgm:prSet/>
      <dgm:spPr/>
      <dgm:t>
        <a:bodyPr/>
        <a:lstStyle/>
        <a:p>
          <a:endParaRPr lang="en-US"/>
        </a:p>
      </dgm:t>
    </dgm:pt>
    <dgm:pt modelId="{F8D87892-5540-4E42-993A-B2A74239F3BB}" type="sibTrans" cxnId="{1A2F620A-ED07-46D6-8710-ABE853D7BC8C}">
      <dgm:prSet/>
      <dgm:spPr/>
      <dgm:t>
        <a:bodyPr/>
        <a:lstStyle/>
        <a:p>
          <a:endParaRPr lang="en-US"/>
        </a:p>
      </dgm:t>
    </dgm:pt>
    <dgm:pt modelId="{8E3888A5-7751-43E6-BA13-A8B5C3A49C26}">
      <dgm:prSet/>
      <dgm:spPr/>
      <dgm:t>
        <a:bodyPr/>
        <a:lstStyle/>
        <a:p>
          <a:r>
            <a:rPr lang="en-US" dirty="0"/>
            <a:t>Use of external variables</a:t>
          </a:r>
        </a:p>
      </dgm:t>
    </dgm:pt>
    <dgm:pt modelId="{12DC98E4-86C9-4304-A222-DAA9CC651117}" type="parTrans" cxnId="{38FDA856-DFA6-41C7-A5CD-4B43F7FB003B}">
      <dgm:prSet/>
      <dgm:spPr/>
      <dgm:t>
        <a:bodyPr/>
        <a:lstStyle/>
        <a:p>
          <a:endParaRPr lang="en-US"/>
        </a:p>
      </dgm:t>
    </dgm:pt>
    <dgm:pt modelId="{B033489E-709E-49B3-AC60-DA4FA07B5FE7}" type="sibTrans" cxnId="{38FDA856-DFA6-41C7-A5CD-4B43F7FB003B}">
      <dgm:prSet/>
      <dgm:spPr/>
      <dgm:t>
        <a:bodyPr/>
        <a:lstStyle/>
        <a:p>
          <a:endParaRPr lang="en-US"/>
        </a:p>
      </dgm:t>
    </dgm:pt>
    <dgm:pt modelId="{B141D955-EC1E-40C1-B52E-489D7FC91987}">
      <dgm:prSet/>
      <dgm:spPr/>
      <dgm:t>
        <a:bodyPr/>
        <a:lstStyle/>
        <a:p>
          <a:r>
            <a:rPr lang="en-US" dirty="0"/>
            <a:t>Cross-referencing with regional or real-world drug use trends</a:t>
          </a:r>
        </a:p>
      </dgm:t>
    </dgm:pt>
    <dgm:pt modelId="{4AD305A3-D8E9-4F9A-8DBA-152D463FF818}" type="parTrans" cxnId="{0FD33BC2-91D0-4A66-BE22-2418E03D559A}">
      <dgm:prSet/>
      <dgm:spPr/>
      <dgm:t>
        <a:bodyPr/>
        <a:lstStyle/>
        <a:p>
          <a:endParaRPr lang="en-US"/>
        </a:p>
      </dgm:t>
    </dgm:pt>
    <dgm:pt modelId="{E989D41B-F177-4007-A00F-2595A50CD32F}" type="sibTrans" cxnId="{0FD33BC2-91D0-4A66-BE22-2418E03D559A}">
      <dgm:prSet/>
      <dgm:spPr/>
      <dgm:t>
        <a:bodyPr/>
        <a:lstStyle/>
        <a:p>
          <a:endParaRPr lang="en-US"/>
        </a:p>
      </dgm:t>
    </dgm:pt>
    <dgm:pt modelId="{908DD0CF-FF7F-174F-AB6E-48A55FBA8E7F}" type="pres">
      <dgm:prSet presAssocID="{A697D2CC-4288-4367-B483-33EC890DDC43}" presName="outerComposite" presStyleCnt="0">
        <dgm:presLayoutVars>
          <dgm:chMax val="5"/>
          <dgm:dir/>
          <dgm:resizeHandles val="exact"/>
        </dgm:presLayoutVars>
      </dgm:prSet>
      <dgm:spPr/>
    </dgm:pt>
    <dgm:pt modelId="{1AB826F5-F45E-274C-80DA-065B29F5B4B3}" type="pres">
      <dgm:prSet presAssocID="{A697D2CC-4288-4367-B483-33EC890DDC43}" presName="dummyMaxCanvas" presStyleCnt="0">
        <dgm:presLayoutVars/>
      </dgm:prSet>
      <dgm:spPr/>
    </dgm:pt>
    <dgm:pt modelId="{C4ADC559-2ABF-6342-8271-D66FAFCC80BB}" type="pres">
      <dgm:prSet presAssocID="{A697D2CC-4288-4367-B483-33EC890DDC43}" presName="ThreeNodes_1" presStyleLbl="node1" presStyleIdx="0" presStyleCnt="3">
        <dgm:presLayoutVars>
          <dgm:bulletEnabled val="1"/>
        </dgm:presLayoutVars>
      </dgm:prSet>
      <dgm:spPr/>
    </dgm:pt>
    <dgm:pt modelId="{86F7A570-09E3-DC42-903A-8E2D018ABE33}" type="pres">
      <dgm:prSet presAssocID="{A697D2CC-4288-4367-B483-33EC890DDC43}" presName="ThreeNodes_2" presStyleLbl="node1" presStyleIdx="1" presStyleCnt="3">
        <dgm:presLayoutVars>
          <dgm:bulletEnabled val="1"/>
        </dgm:presLayoutVars>
      </dgm:prSet>
      <dgm:spPr/>
    </dgm:pt>
    <dgm:pt modelId="{C54D64DA-3688-DA4D-810F-4EF846E2EB48}" type="pres">
      <dgm:prSet presAssocID="{A697D2CC-4288-4367-B483-33EC890DDC43}" presName="ThreeNodes_3" presStyleLbl="node1" presStyleIdx="2" presStyleCnt="3">
        <dgm:presLayoutVars>
          <dgm:bulletEnabled val="1"/>
        </dgm:presLayoutVars>
      </dgm:prSet>
      <dgm:spPr/>
    </dgm:pt>
    <dgm:pt modelId="{44E3179F-0074-B34E-920D-26340B4861DD}" type="pres">
      <dgm:prSet presAssocID="{A697D2CC-4288-4367-B483-33EC890DDC43}" presName="ThreeConn_1-2" presStyleLbl="fgAccFollowNode1" presStyleIdx="0" presStyleCnt="2">
        <dgm:presLayoutVars>
          <dgm:bulletEnabled val="1"/>
        </dgm:presLayoutVars>
      </dgm:prSet>
      <dgm:spPr/>
    </dgm:pt>
    <dgm:pt modelId="{915D21FD-65B8-CC45-AF72-485DE49969A1}" type="pres">
      <dgm:prSet presAssocID="{A697D2CC-4288-4367-B483-33EC890DDC43}" presName="ThreeConn_2-3" presStyleLbl="fgAccFollowNode1" presStyleIdx="1" presStyleCnt="2">
        <dgm:presLayoutVars>
          <dgm:bulletEnabled val="1"/>
        </dgm:presLayoutVars>
      </dgm:prSet>
      <dgm:spPr/>
    </dgm:pt>
    <dgm:pt modelId="{8C19B915-ECCE-7244-8F5A-3C8B45610AC6}" type="pres">
      <dgm:prSet presAssocID="{A697D2CC-4288-4367-B483-33EC890DDC43}" presName="ThreeNodes_1_text" presStyleLbl="node1" presStyleIdx="2" presStyleCnt="3">
        <dgm:presLayoutVars>
          <dgm:bulletEnabled val="1"/>
        </dgm:presLayoutVars>
      </dgm:prSet>
      <dgm:spPr/>
    </dgm:pt>
    <dgm:pt modelId="{72FABD68-6A13-3742-885D-6983D7234238}" type="pres">
      <dgm:prSet presAssocID="{A697D2CC-4288-4367-B483-33EC890DDC43}" presName="ThreeNodes_2_text" presStyleLbl="node1" presStyleIdx="2" presStyleCnt="3">
        <dgm:presLayoutVars>
          <dgm:bulletEnabled val="1"/>
        </dgm:presLayoutVars>
      </dgm:prSet>
      <dgm:spPr/>
    </dgm:pt>
    <dgm:pt modelId="{9C5B7F30-C114-4C44-A945-6C28032FB2ED}" type="pres">
      <dgm:prSet presAssocID="{A697D2CC-4288-4367-B483-33EC890DDC4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01C5905-DA5D-C249-B159-991A8A62961F}" type="presOf" srcId="{F8D87892-5540-4E42-993A-B2A74239F3BB}" destId="{44E3179F-0074-B34E-920D-26340B4861DD}" srcOrd="0" destOrd="0" presId="urn:microsoft.com/office/officeart/2005/8/layout/vProcess5"/>
    <dgm:cxn modelId="{1A2F620A-ED07-46D6-8710-ABE853D7BC8C}" srcId="{A697D2CC-4288-4367-B483-33EC890DDC43}" destId="{450A1ACB-8187-4CBA-8508-5BCDD5873FCE}" srcOrd="0" destOrd="0" parTransId="{9A1333BB-FF5E-40E4-A4C4-D7DD74367CA4}" sibTransId="{F8D87892-5540-4E42-993A-B2A74239F3BB}"/>
    <dgm:cxn modelId="{FB101716-E63D-8944-A625-19B058624678}" type="presOf" srcId="{A697D2CC-4288-4367-B483-33EC890DDC43}" destId="{908DD0CF-FF7F-174F-AB6E-48A55FBA8E7F}" srcOrd="0" destOrd="0" presId="urn:microsoft.com/office/officeart/2005/8/layout/vProcess5"/>
    <dgm:cxn modelId="{CC7A312E-4CFD-E14E-8B6F-B8B29CEF1466}" type="presOf" srcId="{450A1ACB-8187-4CBA-8508-5BCDD5873FCE}" destId="{8C19B915-ECCE-7244-8F5A-3C8B45610AC6}" srcOrd="1" destOrd="0" presId="urn:microsoft.com/office/officeart/2005/8/layout/vProcess5"/>
    <dgm:cxn modelId="{B5BBBF3C-8E5B-9749-BC80-7F65605636D0}" type="presOf" srcId="{B033489E-709E-49B3-AC60-DA4FA07B5FE7}" destId="{915D21FD-65B8-CC45-AF72-485DE49969A1}" srcOrd="0" destOrd="0" presId="urn:microsoft.com/office/officeart/2005/8/layout/vProcess5"/>
    <dgm:cxn modelId="{E5742B51-E639-BE40-9C91-FF2BB6B6105D}" type="presOf" srcId="{450A1ACB-8187-4CBA-8508-5BCDD5873FCE}" destId="{C4ADC559-2ABF-6342-8271-D66FAFCC80BB}" srcOrd="0" destOrd="0" presId="urn:microsoft.com/office/officeart/2005/8/layout/vProcess5"/>
    <dgm:cxn modelId="{38FDA856-DFA6-41C7-A5CD-4B43F7FB003B}" srcId="{A697D2CC-4288-4367-B483-33EC890DDC43}" destId="{8E3888A5-7751-43E6-BA13-A8B5C3A49C26}" srcOrd="1" destOrd="0" parTransId="{12DC98E4-86C9-4304-A222-DAA9CC651117}" sibTransId="{B033489E-709E-49B3-AC60-DA4FA07B5FE7}"/>
    <dgm:cxn modelId="{CB07955E-2D94-AF48-A3E6-536C5FFD149B}" type="presOf" srcId="{8E3888A5-7751-43E6-BA13-A8B5C3A49C26}" destId="{72FABD68-6A13-3742-885D-6983D7234238}" srcOrd="1" destOrd="0" presId="urn:microsoft.com/office/officeart/2005/8/layout/vProcess5"/>
    <dgm:cxn modelId="{CD7F9791-E1A7-C44B-9359-E8A6C07B5A24}" type="presOf" srcId="{B141D955-EC1E-40C1-B52E-489D7FC91987}" destId="{C54D64DA-3688-DA4D-810F-4EF846E2EB48}" srcOrd="0" destOrd="0" presId="urn:microsoft.com/office/officeart/2005/8/layout/vProcess5"/>
    <dgm:cxn modelId="{0FD33BC2-91D0-4A66-BE22-2418E03D559A}" srcId="{A697D2CC-4288-4367-B483-33EC890DDC43}" destId="{B141D955-EC1E-40C1-B52E-489D7FC91987}" srcOrd="2" destOrd="0" parTransId="{4AD305A3-D8E9-4F9A-8DBA-152D463FF818}" sibTransId="{E989D41B-F177-4007-A00F-2595A50CD32F}"/>
    <dgm:cxn modelId="{CA7886F2-7D34-A14E-8665-F89F07C101C4}" type="presOf" srcId="{8E3888A5-7751-43E6-BA13-A8B5C3A49C26}" destId="{86F7A570-09E3-DC42-903A-8E2D018ABE33}" srcOrd="0" destOrd="0" presId="urn:microsoft.com/office/officeart/2005/8/layout/vProcess5"/>
    <dgm:cxn modelId="{CED7C7F3-140C-C24F-8CA8-9303EB2DD53B}" type="presOf" srcId="{B141D955-EC1E-40C1-B52E-489D7FC91987}" destId="{9C5B7F30-C114-4C44-A945-6C28032FB2ED}" srcOrd="1" destOrd="0" presId="urn:microsoft.com/office/officeart/2005/8/layout/vProcess5"/>
    <dgm:cxn modelId="{BDCED12F-65BD-7445-BB75-97DDAB6B1AA4}" type="presParOf" srcId="{908DD0CF-FF7F-174F-AB6E-48A55FBA8E7F}" destId="{1AB826F5-F45E-274C-80DA-065B29F5B4B3}" srcOrd="0" destOrd="0" presId="urn:microsoft.com/office/officeart/2005/8/layout/vProcess5"/>
    <dgm:cxn modelId="{E19CAE48-2F21-304F-8DCE-D906C55911FD}" type="presParOf" srcId="{908DD0CF-FF7F-174F-AB6E-48A55FBA8E7F}" destId="{C4ADC559-2ABF-6342-8271-D66FAFCC80BB}" srcOrd="1" destOrd="0" presId="urn:microsoft.com/office/officeart/2005/8/layout/vProcess5"/>
    <dgm:cxn modelId="{DFF0D25A-4CF3-244C-8D93-40FA46F21F99}" type="presParOf" srcId="{908DD0CF-FF7F-174F-AB6E-48A55FBA8E7F}" destId="{86F7A570-09E3-DC42-903A-8E2D018ABE33}" srcOrd="2" destOrd="0" presId="urn:microsoft.com/office/officeart/2005/8/layout/vProcess5"/>
    <dgm:cxn modelId="{826AB08B-1941-5C4D-9912-8FC8308768D3}" type="presParOf" srcId="{908DD0CF-FF7F-174F-AB6E-48A55FBA8E7F}" destId="{C54D64DA-3688-DA4D-810F-4EF846E2EB48}" srcOrd="3" destOrd="0" presId="urn:microsoft.com/office/officeart/2005/8/layout/vProcess5"/>
    <dgm:cxn modelId="{F1CAB026-EE09-B745-BC9D-712578DE0346}" type="presParOf" srcId="{908DD0CF-FF7F-174F-AB6E-48A55FBA8E7F}" destId="{44E3179F-0074-B34E-920D-26340B4861DD}" srcOrd="4" destOrd="0" presId="urn:microsoft.com/office/officeart/2005/8/layout/vProcess5"/>
    <dgm:cxn modelId="{A475A5B0-9C5F-DB46-BF54-D0CAFB0E0A0F}" type="presParOf" srcId="{908DD0CF-FF7F-174F-AB6E-48A55FBA8E7F}" destId="{915D21FD-65B8-CC45-AF72-485DE49969A1}" srcOrd="5" destOrd="0" presId="urn:microsoft.com/office/officeart/2005/8/layout/vProcess5"/>
    <dgm:cxn modelId="{A2ED9A9F-ED8E-9F45-98FA-B6E392E466BB}" type="presParOf" srcId="{908DD0CF-FF7F-174F-AB6E-48A55FBA8E7F}" destId="{8C19B915-ECCE-7244-8F5A-3C8B45610AC6}" srcOrd="6" destOrd="0" presId="urn:microsoft.com/office/officeart/2005/8/layout/vProcess5"/>
    <dgm:cxn modelId="{3B3319FD-CE5D-FC43-9146-A92032D54305}" type="presParOf" srcId="{908DD0CF-FF7F-174F-AB6E-48A55FBA8E7F}" destId="{72FABD68-6A13-3742-885D-6983D7234238}" srcOrd="7" destOrd="0" presId="urn:microsoft.com/office/officeart/2005/8/layout/vProcess5"/>
    <dgm:cxn modelId="{68AEE71F-F0E0-A84A-8618-125AFD1ADEC6}" type="presParOf" srcId="{908DD0CF-FF7F-174F-AB6E-48A55FBA8E7F}" destId="{9C5B7F30-C114-4C44-A945-6C28032FB2E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6943A-CC05-7943-AAA3-D8C6B5AFCE48}">
      <dsp:nvSpPr>
        <dsp:cNvPr id="0" name=""/>
        <dsp:cNvSpPr/>
      </dsp:nvSpPr>
      <dsp:spPr>
        <a:xfrm>
          <a:off x="0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C4FD9-4D14-6C4A-8ED0-60D4D393C13D}">
      <dsp:nvSpPr>
        <dsp:cNvPr id="0" name=""/>
        <dsp:cNvSpPr/>
      </dsp:nvSpPr>
      <dsp:spPr>
        <a:xfrm>
          <a:off x="340480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Dataset constraints</a:t>
          </a:r>
        </a:p>
      </dsp:txBody>
      <dsp:txXfrm>
        <a:off x="397472" y="947936"/>
        <a:ext cx="2950338" cy="1831860"/>
      </dsp:txXfrm>
    </dsp:sp>
    <dsp:sp modelId="{A208679F-FC2B-0E4E-B47D-B9758B069EB6}">
      <dsp:nvSpPr>
        <dsp:cNvPr id="0" name=""/>
        <dsp:cNvSpPr/>
      </dsp:nvSpPr>
      <dsp:spPr>
        <a:xfrm>
          <a:off x="3745283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E50D6-36B0-A048-9380-4F8E49CD2B82}">
      <dsp:nvSpPr>
        <dsp:cNvPr id="0" name=""/>
        <dsp:cNvSpPr/>
      </dsp:nvSpPr>
      <dsp:spPr>
        <a:xfrm>
          <a:off x="4085763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Generalizability</a:t>
          </a:r>
        </a:p>
      </dsp:txBody>
      <dsp:txXfrm>
        <a:off x="4142755" y="947936"/>
        <a:ext cx="2950338" cy="1831860"/>
      </dsp:txXfrm>
    </dsp:sp>
    <dsp:sp modelId="{3B079F63-2094-C04D-A16D-CE3625CFAA9A}">
      <dsp:nvSpPr>
        <dsp:cNvPr id="0" name=""/>
        <dsp:cNvSpPr/>
      </dsp:nvSpPr>
      <dsp:spPr>
        <a:xfrm>
          <a:off x="7490566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0A41D-DACB-7042-99FB-96F34AAB2FCD}">
      <dsp:nvSpPr>
        <dsp:cNvPr id="0" name=""/>
        <dsp:cNvSpPr/>
      </dsp:nvSpPr>
      <dsp:spPr>
        <a:xfrm>
          <a:off x="7831047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Time limitations for advanced modeling</a:t>
          </a:r>
        </a:p>
      </dsp:txBody>
      <dsp:txXfrm>
        <a:off x="7888039" y="947936"/>
        <a:ext cx="2950338" cy="1831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DC559-2ABF-6342-8271-D66FAFCC80BB}">
      <dsp:nvSpPr>
        <dsp:cNvPr id="0" name=""/>
        <dsp:cNvSpPr/>
      </dsp:nvSpPr>
      <dsp:spPr>
        <a:xfrm>
          <a:off x="0" y="0"/>
          <a:ext cx="5521642" cy="1371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Predictive modeling</a:t>
          </a:r>
        </a:p>
      </dsp:txBody>
      <dsp:txXfrm>
        <a:off x="40173" y="40173"/>
        <a:ext cx="4041578" cy="1291254"/>
      </dsp:txXfrm>
    </dsp:sp>
    <dsp:sp modelId="{86F7A570-09E3-DC42-903A-8E2D018ABE33}">
      <dsp:nvSpPr>
        <dsp:cNvPr id="0" name=""/>
        <dsp:cNvSpPr/>
      </dsp:nvSpPr>
      <dsp:spPr>
        <a:xfrm>
          <a:off x="487203" y="1600200"/>
          <a:ext cx="5521642" cy="1371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-17797"/>
                <a:satOff val="-23495"/>
                <a:lumOff val="17522"/>
                <a:alphaOff val="0"/>
                <a:tint val="98000"/>
                <a:lumMod val="114000"/>
              </a:schemeClr>
            </a:gs>
            <a:gs pos="100000">
              <a:schemeClr val="accent1">
                <a:shade val="80000"/>
                <a:hueOff val="-17797"/>
                <a:satOff val="-23495"/>
                <a:lumOff val="1752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Use of external variables</a:t>
          </a:r>
        </a:p>
      </dsp:txBody>
      <dsp:txXfrm>
        <a:off x="527376" y="1640373"/>
        <a:ext cx="4062552" cy="1291253"/>
      </dsp:txXfrm>
    </dsp:sp>
    <dsp:sp modelId="{C54D64DA-3688-DA4D-810F-4EF846E2EB48}">
      <dsp:nvSpPr>
        <dsp:cNvPr id="0" name=""/>
        <dsp:cNvSpPr/>
      </dsp:nvSpPr>
      <dsp:spPr>
        <a:xfrm>
          <a:off x="974407" y="3200400"/>
          <a:ext cx="5521642" cy="1371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-35594"/>
                <a:satOff val="-46990"/>
                <a:lumOff val="35043"/>
                <a:alphaOff val="0"/>
                <a:tint val="98000"/>
                <a:lumMod val="114000"/>
              </a:schemeClr>
            </a:gs>
            <a:gs pos="100000">
              <a:schemeClr val="accent1">
                <a:shade val="80000"/>
                <a:hueOff val="-35594"/>
                <a:satOff val="-46990"/>
                <a:lumOff val="3504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Cross-referencing with regional or real-world drug use trends</a:t>
          </a:r>
        </a:p>
      </dsp:txBody>
      <dsp:txXfrm>
        <a:off x="1014580" y="3240573"/>
        <a:ext cx="4062552" cy="1291253"/>
      </dsp:txXfrm>
    </dsp:sp>
    <dsp:sp modelId="{44E3179F-0074-B34E-920D-26340B4861DD}">
      <dsp:nvSpPr>
        <dsp:cNvPr id="0" name=""/>
        <dsp:cNvSpPr/>
      </dsp:nvSpPr>
      <dsp:spPr>
        <a:xfrm>
          <a:off x="4630102" y="1040130"/>
          <a:ext cx="891540" cy="89154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830698" y="1040130"/>
        <a:ext cx="490348" cy="670884"/>
      </dsp:txXfrm>
    </dsp:sp>
    <dsp:sp modelId="{915D21FD-65B8-CC45-AF72-485DE49969A1}">
      <dsp:nvSpPr>
        <dsp:cNvPr id="0" name=""/>
        <dsp:cNvSpPr/>
      </dsp:nvSpPr>
      <dsp:spPr>
        <a:xfrm>
          <a:off x="5117306" y="2631186"/>
          <a:ext cx="891540" cy="89154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17902" y="2631186"/>
        <a:ext cx="490348" cy="670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.png"/><Relationship Id="rId7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2.xml"/><Relationship Id="rId5" Type="http://schemas.openxmlformats.org/officeDocument/2006/relationships/image" Target="../media/image5.png"/><Relationship Id="rId10" Type="http://schemas.microsoft.com/office/2007/relationships/diagramDrawing" Target="../diagrams/drawing2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D02E-6367-BDE7-818F-C61C3FE7F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/>
              <a:t>Seasonal Trends</a:t>
            </a:r>
            <a:br>
              <a:rPr lang="en-US" sz="8800" dirty="0"/>
            </a:br>
            <a:r>
              <a:rPr lang="en-US" sz="4800" dirty="0"/>
              <a:t>in Pharmaceutical Sales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7BAE0-3728-44A9-5F8D-F85BA6417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Tristan Morlock, Edgar A Rivera, Cory D Vanderpoel, &amp; Jess Chalker</a:t>
            </a:r>
          </a:p>
        </p:txBody>
      </p:sp>
    </p:spTree>
    <p:extLst>
      <p:ext uri="{BB962C8B-B14F-4D97-AF65-F5344CB8AC3E}">
        <p14:creationId xmlns:p14="http://schemas.microsoft.com/office/powerpoint/2010/main" val="129840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0B09D-B199-35DC-7AA2-C88C31CAB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C45C4-7790-A933-ADE3-B4AE16B3C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3588" y="2548282"/>
            <a:ext cx="10360023" cy="1499948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ctr">
              <a:buFont typeface="Wingdings 3" charset="2"/>
              <a:buChar char=""/>
            </a:pPr>
            <a:r>
              <a:rPr lang="en-US" sz="2000" b="1" dirty="0"/>
              <a:t>Objective</a:t>
            </a:r>
          </a:p>
          <a:p>
            <a:pPr algn="ctr">
              <a:buFont typeface="Wingdings 3" charset="2"/>
              <a:buChar char=""/>
            </a:pPr>
            <a:r>
              <a:rPr lang="en-US" sz="2000" dirty="0"/>
              <a:t>To explore seasonal sales trends in pharmaceutical drug categories.</a:t>
            </a:r>
          </a:p>
          <a:p>
            <a:pPr algn="ctr">
              <a:buFont typeface="Wingdings 3" charset="2"/>
              <a:buChar char=""/>
            </a:pPr>
            <a:r>
              <a:rPr lang="en-US" sz="2000" b="1" dirty="0"/>
              <a:t>Why this matters</a:t>
            </a:r>
          </a:p>
          <a:p>
            <a:pPr algn="ctr">
              <a:buFont typeface="Wingdings 3" charset="2"/>
              <a:buChar char=""/>
            </a:pPr>
            <a:r>
              <a:rPr lang="en-US" sz="2000" dirty="0"/>
              <a:t> Inventory planning, marketing, &amp; healthcare availability.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4D5DCDED-D67F-C065-6583-E5B55E96B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026" y="4133897"/>
            <a:ext cx="5451627" cy="1935327"/>
          </a:xfrm>
          <a:prstGeom prst="rect">
            <a:avLst/>
          </a:prstGeom>
          <a:effectLst>
            <a:outerShdw blurRad="406400" dist="50800" dir="5400000" algn="ctr" rotWithShape="0">
              <a:schemeClr val="tx1">
                <a:lumMod val="85000"/>
                <a:lumOff val="15000"/>
              </a:scheme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8A02D9-DB1C-7D16-040D-8CD0105ED98D}"/>
              </a:ext>
            </a:extLst>
          </p:cNvPr>
          <p:cNvSpPr txBox="1"/>
          <p:nvPr/>
        </p:nvSpPr>
        <p:spPr>
          <a:xfrm>
            <a:off x="3430026" y="6087955"/>
            <a:ext cx="6100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/>
              <a:t>Fig. 1: Overview of the Data</a:t>
            </a:r>
          </a:p>
        </p:txBody>
      </p:sp>
    </p:spTree>
    <p:extLst>
      <p:ext uri="{BB962C8B-B14F-4D97-AF65-F5344CB8AC3E}">
        <p14:creationId xmlns:p14="http://schemas.microsoft.com/office/powerpoint/2010/main" val="2540789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D3E1-5AE1-670E-8735-D0003ED7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D5D1B-B4F9-3D1A-EBCE-B6ACC4F86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Pharma sales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E2994-BAE0-8104-D063-4EFEBC6055C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Daily sales of the drugs in 8 ATC categories,</a:t>
            </a:r>
          </a:p>
          <a:p>
            <a:pPr marL="285750" indent="-285750">
              <a:buFontTx/>
              <a:buChar char="-"/>
            </a:pPr>
            <a:r>
              <a:rPr lang="en-US" dirty="0"/>
              <a:t>Built from the initial dataset consisted of 600000 transactional data collected in 6 years (period 2014-2019)​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data is broken down into four time-series captures: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Hourly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Daily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Weekly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Monthly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27C6CD-0769-B08A-0EF5-409C2859E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Time-Series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D0D36F-598B-1F2B-5AE1-142022D90AC5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fontAlgn="base"/>
            <a:r>
              <a:rPr lang="en-US" dirty="0"/>
              <a:t>Typically, a time-series data embodies each of the four different components:</a:t>
            </a:r>
          </a:p>
          <a:p>
            <a:pPr marL="285750" indent="-285750" fontAlgn="base">
              <a:buFontTx/>
              <a:buChar char="-"/>
            </a:pPr>
            <a:r>
              <a:rPr lang="en-US" dirty="0"/>
              <a:t>level (mean of time-series data);</a:t>
            </a:r>
          </a:p>
          <a:p>
            <a:pPr marL="285750" indent="-285750" fontAlgn="base">
              <a:buFontTx/>
              <a:buChar char="-"/>
            </a:pPr>
            <a:r>
              <a:rPr lang="en-US" dirty="0"/>
              <a:t>trend (long-term increasing or decreasing value in series);</a:t>
            </a:r>
          </a:p>
          <a:p>
            <a:pPr marL="285750" indent="-285750" fontAlgn="base">
              <a:buFontTx/>
              <a:buChar char="-"/>
            </a:pPr>
            <a:r>
              <a:rPr lang="en-US" dirty="0"/>
              <a:t>seasonality (the repeating short-term cycle in the series); and</a:t>
            </a:r>
          </a:p>
          <a:p>
            <a:pPr marL="285750" indent="-285750" fontAlgn="base">
              <a:buFontTx/>
              <a:buChar char="-"/>
            </a:pPr>
            <a:r>
              <a:rPr lang="en-US" dirty="0"/>
              <a:t>noise or residuals (random variations in the series)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3536EF-379A-DD16-6826-61BD3EB514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5EA0EA-D35B-281E-9AB9-577E1B0D0158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fontAlgn="base"/>
            <a:r>
              <a:rPr lang="en-US" dirty="0"/>
              <a:t>The methodology for implementing this case study follows the typical time series forecasting pipeline, consisting of three major phases:</a:t>
            </a:r>
          </a:p>
          <a:p>
            <a:pPr marL="342900" indent="-342900" fontAlgn="base">
              <a:buAutoNum type="arabicPeriod"/>
            </a:pPr>
            <a:r>
              <a:rPr lang="en-US" dirty="0"/>
              <a:t>feature engineering and data preparation;</a:t>
            </a:r>
          </a:p>
          <a:p>
            <a:pPr marL="342900" indent="-342900" fontAlgn="base">
              <a:buAutoNum type="arabicPeriod"/>
            </a:pPr>
            <a:r>
              <a:rPr lang="en-US" dirty="0"/>
              <a:t>exploratory data analysis (time-series analysis); </a:t>
            </a:r>
          </a:p>
          <a:p>
            <a:pPr marL="342900" indent="-342900" fontAlgn="base">
              <a:buAutoNum type="arabicPeriod"/>
            </a:pPr>
            <a:r>
              <a:rPr lang="en-US" dirty="0"/>
              <a:t>and forecasting.</a:t>
            </a:r>
          </a:p>
          <a:p>
            <a:pPr fontAlgn="base"/>
            <a:r>
              <a:rPr lang="en-US" dirty="0"/>
              <a:t>For the purposes of our predictive model, we will focus primarily on monthly sales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5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4B6D-F4D9-3F66-EFFF-628C1082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Drug’s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6313-6882-976D-ADF5-88CCFF29F3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000" b="1" u="sng" dirty="0"/>
              <a:t>M01AB</a:t>
            </a:r>
            <a:r>
              <a:rPr lang="en-US" sz="2000" dirty="0"/>
              <a:t>: Anti-inflammatory and antirheumatic products, non-steroids, Acetic acid derivatives and related substances​</a:t>
            </a:r>
          </a:p>
          <a:p>
            <a:pPr fontAlgn="base"/>
            <a:r>
              <a:rPr lang="en-US" sz="2000" b="1" u="sng" dirty="0"/>
              <a:t>M01AE</a:t>
            </a:r>
            <a:r>
              <a:rPr lang="en-US" sz="2000" dirty="0"/>
              <a:t>: Anti-inflammatory and antirheumatic products, non-steroids, Propionic acid derivatives​</a:t>
            </a:r>
          </a:p>
          <a:p>
            <a:pPr fontAlgn="base"/>
            <a:r>
              <a:rPr lang="en-US" sz="2000" b="1" u="sng" dirty="0"/>
              <a:t>N02BA</a:t>
            </a:r>
            <a:r>
              <a:rPr lang="en-US" sz="2000" dirty="0"/>
              <a:t>: Other analgesics and antipyretics, Salicylic acid and derivatives​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F82EC-1CD0-C002-8698-473D18CC06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000" b="1" u="sng" dirty="0"/>
              <a:t>N02BE</a:t>
            </a:r>
            <a:r>
              <a:rPr lang="en-US" sz="2000" dirty="0"/>
              <a:t>: Other analgesics and antipyretics, </a:t>
            </a:r>
            <a:r>
              <a:rPr lang="en-US" sz="2000" dirty="0" err="1"/>
              <a:t>Pyrazolones</a:t>
            </a:r>
            <a:r>
              <a:rPr lang="en-US" sz="2000" dirty="0"/>
              <a:t> and </a:t>
            </a:r>
            <a:r>
              <a:rPr lang="en-US" sz="2000" dirty="0" err="1"/>
              <a:t>Anilides</a:t>
            </a:r>
            <a:r>
              <a:rPr lang="en-US" sz="2000" dirty="0"/>
              <a:t>​</a:t>
            </a:r>
          </a:p>
          <a:p>
            <a:pPr fontAlgn="base"/>
            <a:r>
              <a:rPr lang="en-US" sz="2000" b="1" u="sng" dirty="0"/>
              <a:t>N05B</a:t>
            </a:r>
            <a:r>
              <a:rPr lang="en-US" sz="2000" dirty="0"/>
              <a:t>: </a:t>
            </a:r>
            <a:r>
              <a:rPr lang="en-US" sz="2000" dirty="0" err="1"/>
              <a:t>Psycholeptics</a:t>
            </a:r>
            <a:r>
              <a:rPr lang="en-US" sz="2000" dirty="0"/>
              <a:t> drugs, Anxiolytic drugs​</a:t>
            </a:r>
          </a:p>
          <a:p>
            <a:pPr fontAlgn="base"/>
            <a:r>
              <a:rPr lang="en-US" sz="2000" b="1" u="sng" dirty="0"/>
              <a:t>N05C</a:t>
            </a:r>
            <a:r>
              <a:rPr lang="en-US" sz="2000" dirty="0"/>
              <a:t>: </a:t>
            </a:r>
            <a:r>
              <a:rPr lang="en-US" sz="2000" dirty="0" err="1"/>
              <a:t>Psycholeptics</a:t>
            </a:r>
            <a:r>
              <a:rPr lang="en-US" sz="2000" dirty="0"/>
              <a:t> drugs, Hypnotics and sedatives drugs​</a:t>
            </a:r>
          </a:p>
          <a:p>
            <a:pPr fontAlgn="base"/>
            <a:r>
              <a:rPr lang="en-US" sz="2000" b="1" u="sng" dirty="0"/>
              <a:t>R03</a:t>
            </a:r>
            <a:r>
              <a:rPr lang="en-US" sz="2000" dirty="0"/>
              <a:t>: Drugs for obstructive airway diseases​</a:t>
            </a:r>
          </a:p>
          <a:p>
            <a:pPr fontAlgn="base"/>
            <a:r>
              <a:rPr lang="en-US" sz="2000" b="1" u="sng" dirty="0"/>
              <a:t>R06</a:t>
            </a:r>
            <a:r>
              <a:rPr lang="en-US" sz="2000" dirty="0"/>
              <a:t>: Antihistamines for systemic use​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88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B84D2-9311-274F-7973-CC646BED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Methodology</a:t>
            </a:r>
            <a:br>
              <a:rPr lang="en-US" sz="4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4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&amp; Data Cleaning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41EE4-1ECC-59CC-E558-BB71FCD8D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 Cleaned and sorted the data to identify points of comparisons:</a:t>
            </a:r>
          </a:p>
          <a:p>
            <a:pPr marL="742950" lvl="1" indent="-285750"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month,</a:t>
            </a:r>
          </a:p>
          <a:p>
            <a:pPr marL="742950" lvl="1" indent="-285750"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seasons,</a:t>
            </a:r>
          </a:p>
          <a:p>
            <a:pPr marL="742950" lvl="1" indent="-285750"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years.</a:t>
            </a:r>
          </a:p>
          <a:p>
            <a:pPr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 Pivoted to long format </a:t>
            </a:r>
          </a:p>
          <a:p>
            <a:pPr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 Aggregated average monthly sales per season &amp; year</a:t>
            </a:r>
          </a:p>
          <a:p>
            <a:pPr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</a:rPr>
              <a:t> Visualization tools used: ggplot2, </a:t>
            </a:r>
            <a:r>
              <a:rPr lang="en-US" dirty="0" err="1">
                <a:solidFill>
                  <a:srgbClr val="EBEBEB"/>
                </a:solidFill>
              </a:rPr>
              <a:t>dplyr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dirty="0" err="1">
                <a:solidFill>
                  <a:srgbClr val="EBEBEB"/>
                </a:solidFill>
              </a:rPr>
              <a:t>tidyverse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dirty="0" err="1">
                <a:solidFill>
                  <a:srgbClr val="EBEBEB"/>
                </a:solidFill>
              </a:rPr>
              <a:t>readxl</a:t>
            </a:r>
            <a:r>
              <a:rPr lang="en-US" dirty="0">
                <a:solidFill>
                  <a:srgbClr val="EBEBEB"/>
                </a:solidFill>
              </a:rPr>
              <a:t>, forecast, </a:t>
            </a:r>
            <a:r>
              <a:rPr lang="en-US" dirty="0" err="1">
                <a:solidFill>
                  <a:srgbClr val="EBEBEB"/>
                </a:solidFill>
              </a:rPr>
              <a:t>readr</a:t>
            </a:r>
            <a:endParaRPr lang="en-US" dirty="0">
              <a:solidFill>
                <a:srgbClr val="EBEBEB"/>
              </a:solidFill>
            </a:endParaRPr>
          </a:p>
        </p:txBody>
      </p:sp>
      <p:pic>
        <p:nvPicPr>
          <p:cNvPr id="6" name="Content Placeholder 5" descr="A table with different types of medications&#10;&#10;AI-generated content may be incorrect.">
            <a:extLst>
              <a:ext uri="{FF2B5EF4-FFF2-40B4-BE49-F238E27FC236}">
                <a16:creationId xmlns:a16="http://schemas.microsoft.com/office/drawing/2014/main" id="{A817A554-ECB0-D508-89E6-7A8B672C5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l="1" t="363" r="14"/>
          <a:stretch>
            <a:fillRect/>
          </a:stretch>
        </p:blipFill>
        <p:spPr>
          <a:xfrm>
            <a:off x="6093992" y="811763"/>
            <a:ext cx="5449077" cy="5253619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04E016-E0F0-53B0-898A-242C23D02814}"/>
              </a:ext>
            </a:extLst>
          </p:cNvPr>
          <p:cNvSpPr txBox="1"/>
          <p:nvPr/>
        </p:nvSpPr>
        <p:spPr>
          <a:xfrm>
            <a:off x="6091826" y="6095999"/>
            <a:ext cx="6100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2: ATC Drug Categories</a:t>
            </a:r>
          </a:p>
        </p:txBody>
      </p:sp>
    </p:spTree>
    <p:extLst>
      <p:ext uri="{BB962C8B-B14F-4D97-AF65-F5344CB8AC3E}">
        <p14:creationId xmlns:p14="http://schemas.microsoft.com/office/powerpoint/2010/main" val="724806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F89BD-4661-6ADF-0049-60A86AB8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B7CB88C8-E178-0FF9-535E-9BC8BB990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13A1E54-4863-DB84-EE21-C2E947804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2F7C57EC-3CCB-B101-2BC1-783A06961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320A14B-1FD0-5123-4342-DACA3EBE3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EC3C455-57BD-7968-A6ED-2EAC9DCD6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4F43AB3-612C-DD25-8AB2-41E168B4A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E9C7A-98EC-E2F2-80B6-45DA6DFB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84345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Respiratory / Allergy (R03, R06)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7FC2838-373B-58A0-6CC0-20C9B936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623" y="2291255"/>
            <a:ext cx="3333676" cy="391904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sz="1800" dirty="0"/>
              <a:t>R03 — Respiratory</a:t>
            </a:r>
          </a:p>
          <a:p>
            <a:pPr fontAlgn="base"/>
            <a:r>
              <a:rPr lang="en-US" sz="1800" b="1" dirty="0"/>
              <a:t>Highest peak in Winter </a:t>
            </a:r>
            <a:r>
              <a:rPr lang="en-US" sz="1800" dirty="0"/>
              <a:t>with steady increase leading in and decrease coming out — notable drop in Summer. </a:t>
            </a:r>
            <a:r>
              <a:rPr lang="en-US" sz="1800" b="1" dirty="0"/>
              <a:t>Respiratory illness are often agitated by colder weather</a:t>
            </a:r>
            <a:r>
              <a:rPr lang="en-US" sz="1800" dirty="0"/>
              <a:t>. </a:t>
            </a:r>
          </a:p>
          <a:p>
            <a:pPr marL="0" indent="0" fontAlgn="base">
              <a:buNone/>
            </a:pPr>
            <a:r>
              <a:rPr lang="en-US" sz="1800" dirty="0"/>
              <a:t>R06 — Allergy</a:t>
            </a:r>
          </a:p>
          <a:p>
            <a:pPr fontAlgn="base"/>
            <a:r>
              <a:rPr lang="en-US" sz="1800" b="1" dirty="0"/>
              <a:t>Highest peak in Spring</a:t>
            </a:r>
            <a:r>
              <a:rPr lang="en-US" sz="1800" dirty="0"/>
              <a:t>, followed by </a:t>
            </a:r>
            <a:r>
              <a:rPr lang="en-US" sz="1800" b="1" dirty="0"/>
              <a:t>Summer</a:t>
            </a:r>
            <a:r>
              <a:rPr lang="en-US" sz="1800" dirty="0"/>
              <a:t> — suggests </a:t>
            </a:r>
            <a:r>
              <a:rPr lang="en-US" sz="1800" b="1" dirty="0"/>
              <a:t>potential allergy season</a:t>
            </a:r>
            <a:r>
              <a:rPr lang="en-US" sz="1800" dirty="0"/>
              <a:t> trends.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CA14EE6-7371-8149-3430-E52A7BC01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31">
            <a:extLst>
              <a:ext uri="{FF2B5EF4-FFF2-40B4-BE49-F238E27FC236}">
                <a16:creationId xmlns:a16="http://schemas.microsoft.com/office/drawing/2014/main" id="{BB862BB1-BDAD-57F4-D12D-58FBA875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7" descr="A graph showing the different types of drugs&#10;&#10;AI-generated content may be incorrect.">
            <a:extLst>
              <a:ext uri="{FF2B5EF4-FFF2-40B4-BE49-F238E27FC236}">
                <a16:creationId xmlns:a16="http://schemas.microsoft.com/office/drawing/2014/main" id="{EA185FDF-8C05-8A09-9AE4-D4B2ACB7E9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88" y="1553068"/>
            <a:ext cx="6023954" cy="3704732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394BFF-E6D4-88E2-5E6D-F3CDECB7EA44}"/>
              </a:ext>
            </a:extLst>
          </p:cNvPr>
          <p:cNvSpPr txBox="1"/>
          <p:nvPr/>
        </p:nvSpPr>
        <p:spPr>
          <a:xfrm>
            <a:off x="761206" y="5349657"/>
            <a:ext cx="6100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3: Seasonal Sales Trends — Respiratory / Allergy</a:t>
            </a:r>
          </a:p>
        </p:txBody>
      </p:sp>
    </p:spTree>
    <p:extLst>
      <p:ext uri="{BB962C8B-B14F-4D97-AF65-F5344CB8AC3E}">
        <p14:creationId xmlns:p14="http://schemas.microsoft.com/office/powerpoint/2010/main" val="186411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79F6-5D47-DD11-2A96-053CC52F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A7FA-6163-541C-3F3D-FF250449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Sales Trends: Respiratory and Allergy Meds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B9359-159B-BE76-D3C4-8ECD4F5D5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5289" y="1670368"/>
            <a:ext cx="4396341" cy="4200245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050" dirty="0" err="1"/>
              <a:t>Asthma_Drugs</a:t>
            </a:r>
            <a:r>
              <a:rPr lang="en-US" sz="1050" dirty="0"/>
              <a:t>: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Higher variability and sales overall.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Peaks in winter and early spring (Dec–Mar), with December showing the highest sales.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Suggests seasonal spikes potentially tied to cold/flu season, winter triggers, or increased respiratory infections.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50" dirty="0" err="1"/>
              <a:t>Allergy_Meds</a:t>
            </a:r>
            <a:r>
              <a:rPr lang="en-US" sz="1050" dirty="0"/>
              <a:t>: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More stable, lower median sales throughout the year.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Slight uptick in spring (Mar–May) — potentially aligning with pollen/allergy season.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Sales remain relatively flat compared to asthma drugs.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50" dirty="0"/>
              <a:t>Interpretation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Asthma medication usage is strongly seasonal, with clear increases during colder months. This could be linked to: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Respiratory infections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Cold-induced asthma exacerbation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Increased indoor allergens (e.g., dust, mold)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50" dirty="0"/>
              <a:t>Allergy medications show minor seasonal influence, possibly indicating: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More consistent year-round use (chronic allergies)</a:t>
            </a:r>
          </a:p>
          <a:p>
            <a:pPr>
              <a:spcBef>
                <a:spcPts val="400"/>
              </a:spcBef>
            </a:pPr>
            <a:r>
              <a:rPr lang="en-US" sz="1050" dirty="0"/>
              <a:t>Mild seasonal variation with a small rise in spring due to environmental allergens like pollen.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78D16-D651-F962-447D-53CD52A2A117}"/>
              </a:ext>
            </a:extLst>
          </p:cNvPr>
          <p:cNvSpPr txBox="1"/>
          <p:nvPr/>
        </p:nvSpPr>
        <p:spPr>
          <a:xfrm>
            <a:off x="825115" y="5727319"/>
            <a:ext cx="6100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4: Seasonal Sales Trends II — Respiratory / Allergy</a:t>
            </a:r>
          </a:p>
        </p:txBody>
      </p:sp>
      <p:pic>
        <p:nvPicPr>
          <p:cNvPr id="5" name="Picture 4" descr="A graph showing different colored and black bars&#10;&#10;AI-generated content may be incorrect.">
            <a:extLst>
              <a:ext uri="{FF2B5EF4-FFF2-40B4-BE49-F238E27FC236}">
                <a16:creationId xmlns:a16="http://schemas.microsoft.com/office/drawing/2014/main" id="{091B1830-4496-4CF3-1919-4E2A4D6F5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913747"/>
            <a:ext cx="6048558" cy="3753073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803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8D33-0B25-50CB-53DE-702EF448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C9CE-8069-1048-689A-E5FC5D32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Sales Trends: Respiratory and Allergy Meds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9F229-C105-E1D2-4783-AA1343D90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752" y="3439800"/>
            <a:ext cx="4659719" cy="264710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Cluster: High Flu Season Days</a:t>
            </a:r>
          </a:p>
          <a:p>
            <a:r>
              <a:rPr lang="en-US" dirty="0" err="1"/>
              <a:t>Paracetamol_Group</a:t>
            </a:r>
            <a:r>
              <a:rPr lang="en-US" dirty="0"/>
              <a:t> has the highest average → Suggests cold/flu symptom treatment.</a:t>
            </a:r>
          </a:p>
          <a:p>
            <a:r>
              <a:rPr lang="en-US" dirty="0" err="1"/>
              <a:t>Asthma_Drugs</a:t>
            </a:r>
            <a:r>
              <a:rPr lang="en-US" dirty="0"/>
              <a:t> are also elevated → Flu can worsen asthma.</a:t>
            </a:r>
          </a:p>
          <a:p>
            <a:r>
              <a:rPr lang="en-US" dirty="0"/>
              <a:t>Interpretation: Likely January–March. Respiratory illness peaks. OTC cold remedies dominate.</a:t>
            </a:r>
          </a:p>
          <a:p>
            <a:pPr marL="0" indent="0">
              <a:buNone/>
            </a:pPr>
            <a:r>
              <a:rPr lang="en-US" dirty="0"/>
              <a:t>Cluster: Mental Health Days</a:t>
            </a:r>
          </a:p>
          <a:p>
            <a:r>
              <a:rPr lang="en-US" dirty="0" err="1"/>
              <a:t>Anxiety_Drugs</a:t>
            </a:r>
            <a:r>
              <a:rPr lang="en-US" dirty="0"/>
              <a:t> and </a:t>
            </a:r>
            <a:r>
              <a:rPr lang="en-US" dirty="0" err="1"/>
              <a:t>Sleep_Aids</a:t>
            </a:r>
            <a:r>
              <a:rPr lang="en-US" dirty="0"/>
              <a:t> are the highest here.</a:t>
            </a:r>
          </a:p>
          <a:p>
            <a:r>
              <a:rPr lang="en-US" dirty="0"/>
              <a:t>Pain meds like NSAIDs or Paracetamol are lower.</a:t>
            </a:r>
          </a:p>
          <a:p>
            <a:r>
              <a:rPr lang="en-US" dirty="0"/>
              <a:t>Interpretation: Possibly stress-related spikes (e.g., late-year holidays or post-summer adjustment periods).</a:t>
            </a:r>
          </a:p>
          <a:p>
            <a:endParaRPr lang="en-US" dirty="0"/>
          </a:p>
        </p:txBody>
      </p:sp>
      <p:pic>
        <p:nvPicPr>
          <p:cNvPr id="5" name="Picture 4" descr="A screenshot of a black background&#10;&#10;AI-generated content may be incorrect.">
            <a:extLst>
              <a:ext uri="{FF2B5EF4-FFF2-40B4-BE49-F238E27FC236}">
                <a16:creationId xmlns:a16="http://schemas.microsoft.com/office/drawing/2014/main" id="{4D987035-1625-E627-1A93-F18C0AAF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752" y="2018875"/>
            <a:ext cx="9604495" cy="1255298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EDB72EE-D08B-25BD-B035-C16FD0A8FC82}"/>
              </a:ext>
            </a:extLst>
          </p:cNvPr>
          <p:cNvSpPr txBox="1">
            <a:spLocks/>
          </p:cNvSpPr>
          <p:nvPr/>
        </p:nvSpPr>
        <p:spPr>
          <a:xfrm>
            <a:off x="6326592" y="3439800"/>
            <a:ext cx="4284078" cy="26471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Cluster: Baseline/Low Sales</a:t>
            </a:r>
          </a:p>
          <a:p>
            <a:r>
              <a:rPr lang="en-US" dirty="0"/>
              <a:t>Most drug groups have their lowest averages.</a:t>
            </a:r>
          </a:p>
          <a:p>
            <a:r>
              <a:rPr lang="en-US" dirty="0"/>
              <a:t>Interpretation: Quiet months like summer (June–August), with minimal illness and fewer prescriptions.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Cluster: Steady Pain Relief</a:t>
            </a:r>
          </a:p>
          <a:p>
            <a:r>
              <a:rPr lang="en-US" dirty="0"/>
              <a:t>Aspirin, NSAIDs, and Paracetamol show consistent, mid-level averages.</a:t>
            </a:r>
          </a:p>
          <a:p>
            <a:r>
              <a:rPr lang="en-US" dirty="0"/>
              <a:t>Interpretation: Reflects days where pain and chronic condition management dominate.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BC9C0-C158-BBAC-6A23-C712BDA06461}"/>
              </a:ext>
            </a:extLst>
          </p:cNvPr>
          <p:cNvSpPr txBox="1"/>
          <p:nvPr/>
        </p:nvSpPr>
        <p:spPr>
          <a:xfrm>
            <a:off x="9202662" y="3274173"/>
            <a:ext cx="19416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5: Cluster Averages</a:t>
            </a:r>
          </a:p>
        </p:txBody>
      </p:sp>
    </p:spTree>
    <p:extLst>
      <p:ext uri="{BB962C8B-B14F-4D97-AF65-F5344CB8AC3E}">
        <p14:creationId xmlns:p14="http://schemas.microsoft.com/office/powerpoint/2010/main" val="235729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495D-D79F-CE27-71C7-74FA31BC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DC5-4242-3211-0C8C-AA890CBE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Sales Trends: Respiratory and Allergy Meds</a:t>
            </a:r>
          </a:p>
        </p:txBody>
      </p:sp>
      <p:pic>
        <p:nvPicPr>
          <p:cNvPr id="10" name="Picture 9" descr="A graph of a number of days based on drug use profiles&#10;&#10;AI-generated content may be incorrect.">
            <a:extLst>
              <a:ext uri="{FF2B5EF4-FFF2-40B4-BE49-F238E27FC236}">
                <a16:creationId xmlns:a16="http://schemas.microsoft.com/office/drawing/2014/main" id="{E4272460-6E16-895C-74F9-37F9258E2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483" y="1968793"/>
            <a:ext cx="6939034" cy="4314269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0A9453-34C4-311E-2191-B948DE9ED748}"/>
              </a:ext>
            </a:extLst>
          </p:cNvPr>
          <p:cNvSpPr txBox="1"/>
          <p:nvPr/>
        </p:nvSpPr>
        <p:spPr>
          <a:xfrm>
            <a:off x="7838557" y="1707183"/>
            <a:ext cx="19416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17: Cluster Map</a:t>
            </a:r>
          </a:p>
        </p:txBody>
      </p:sp>
    </p:spTree>
    <p:extLst>
      <p:ext uri="{BB962C8B-B14F-4D97-AF65-F5344CB8AC3E}">
        <p14:creationId xmlns:p14="http://schemas.microsoft.com/office/powerpoint/2010/main" val="296970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54373-0827-F102-2BD8-03CF9136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DD1F-6A3F-7BE9-F832-A04EEF71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Forecasting with Holt-Winters Method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7BC5191-56F5-D2A3-C517-309D53B9A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D671AE4E-17E6-3E0D-611F-0E6FED377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C32CA5-8E9F-FB75-26E7-57AAC5334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133A3F0-F474-63E9-50B7-CF86F875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R06 is a </a:t>
            </a:r>
            <a:r>
              <a:rPr lang="en-US" b="1" dirty="0"/>
              <a:t>respiratory/allergen variable</a:t>
            </a:r>
            <a:r>
              <a:rPr lang="en-US" dirty="0"/>
              <a:t>. This would make sense with seasonal repetition, since seasonal allergies are a massive problem for many people in the US. </a:t>
            </a:r>
          </a:p>
          <a:p>
            <a:pPr lvl="0"/>
            <a:r>
              <a:rPr lang="en-US" dirty="0"/>
              <a:t>Adjusted the </a:t>
            </a:r>
            <a:r>
              <a:rPr lang="en-US" b="1" dirty="0"/>
              <a:t>Beta</a:t>
            </a:r>
            <a:r>
              <a:rPr lang="en-US" dirty="0"/>
              <a:t> and </a:t>
            </a:r>
            <a:r>
              <a:rPr lang="en-US" b="1" dirty="0"/>
              <a:t>Gamma</a:t>
            </a:r>
            <a:r>
              <a:rPr lang="en-US" dirty="0"/>
              <a:t> values to be appropriate for not having a general trend and including seasonality. </a:t>
            </a:r>
          </a:p>
          <a:p>
            <a:pPr lvl="0"/>
            <a:r>
              <a:rPr lang="en-US" dirty="0"/>
              <a:t>Forecasts the </a:t>
            </a:r>
            <a:r>
              <a:rPr lang="en-US" b="1" dirty="0"/>
              <a:t>next 100 days</a:t>
            </a:r>
            <a:r>
              <a:rPr lang="en-US" dirty="0"/>
              <a:t> of R06 sales</a:t>
            </a:r>
          </a:p>
          <a:p>
            <a:pPr lvl="0"/>
            <a:endParaRPr lang="en-US" dirty="0"/>
          </a:p>
        </p:txBody>
      </p:sp>
      <p:pic>
        <p:nvPicPr>
          <p:cNvPr id="10" name="Picture 9" descr="A graph showing the seasonal sales for respiratory drugs&#10;&#10;AI-generated content may be incorrect.">
            <a:extLst>
              <a:ext uri="{FF2B5EF4-FFF2-40B4-BE49-F238E27FC236}">
                <a16:creationId xmlns:a16="http://schemas.microsoft.com/office/drawing/2014/main" id="{3835EF46-2291-C8D6-2ED4-7E01E1142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429000"/>
            <a:ext cx="4785894" cy="2943325"/>
          </a:xfrm>
          <a:prstGeom prst="rect">
            <a:avLst/>
          </a:prstGeom>
          <a:effectLst>
            <a:outerShdw blurRad="417959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pic>
        <p:nvPicPr>
          <p:cNvPr id="8" name="Content Placeholder 7" descr="A graph showing the different types of drugs&#10;&#10;AI-generated content may be incorrect.">
            <a:extLst>
              <a:ext uri="{FF2B5EF4-FFF2-40B4-BE49-F238E27FC236}">
                <a16:creationId xmlns:a16="http://schemas.microsoft.com/office/drawing/2014/main" id="{C2DDEBD6-3CD0-C715-D1F3-8A94FE41A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91823"/>
            <a:ext cx="4785894" cy="2943325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pic>
        <p:nvPicPr>
          <p:cNvPr id="2050" name="Picture 2" descr="A graph of a number of people&#10;&#10;AI-generated content may be incorrect., Picture">
            <a:extLst>
              <a:ext uri="{FF2B5EF4-FFF2-40B4-BE49-F238E27FC236}">
                <a16:creationId xmlns:a16="http://schemas.microsoft.com/office/drawing/2014/main" id="{642B90E4-AA28-2C2A-C620-0E065CE39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094" y="3431128"/>
            <a:ext cx="4785895" cy="294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aph showing the time of a wave&#10;&#10;AI-generated content may be incorrect.">
            <a:extLst>
              <a:ext uri="{FF2B5EF4-FFF2-40B4-BE49-F238E27FC236}">
                <a16:creationId xmlns:a16="http://schemas.microsoft.com/office/drawing/2014/main" id="{05BAA047-7F9A-9654-DFBA-7D3923FD0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3" y="291823"/>
            <a:ext cx="4785895" cy="2937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30CFC5-F418-2087-1805-C533C818FFA1}"/>
              </a:ext>
            </a:extLst>
          </p:cNvPr>
          <p:cNvSpPr txBox="1"/>
          <p:nvPr/>
        </p:nvSpPr>
        <p:spPr>
          <a:xfrm>
            <a:off x="6495201" y="2976331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6: Holt-Winters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FA332-F520-7D00-3C30-855D867A8A7C}"/>
              </a:ext>
            </a:extLst>
          </p:cNvPr>
          <p:cNvSpPr txBox="1"/>
          <p:nvPr/>
        </p:nvSpPr>
        <p:spPr>
          <a:xfrm>
            <a:off x="6495201" y="6117594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7: Holt-Winters Prediction</a:t>
            </a:r>
          </a:p>
        </p:txBody>
      </p:sp>
    </p:spTree>
    <p:extLst>
      <p:ext uri="{BB962C8B-B14F-4D97-AF65-F5344CB8AC3E}">
        <p14:creationId xmlns:p14="http://schemas.microsoft.com/office/powerpoint/2010/main" val="345090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0847B-7B23-0A1B-6AE0-C9F447A4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8B5C-77E3-0F80-836F-A3A82412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ARIMA Analysis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7DCA49-1502-AEC3-AFC3-D05592FAA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7BB91ED8-D254-AA5D-96EB-F67C7B0E9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67928C-A3E6-C241-71CD-771FA5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371B4E5-9274-482F-8780-A08C6AC8E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This is the </a:t>
            </a:r>
            <a:r>
              <a:rPr lang="en-US" b="1" dirty="0"/>
              <a:t>first difference</a:t>
            </a:r>
            <a:r>
              <a:rPr lang="en-US" dirty="0"/>
              <a:t> of the original time series</a:t>
            </a:r>
          </a:p>
          <a:p>
            <a:r>
              <a:rPr lang="en-US" dirty="0"/>
              <a:t>No obvious </a:t>
            </a:r>
            <a:r>
              <a:rPr lang="en-US" b="1" dirty="0"/>
              <a:t>upward or downward trend </a:t>
            </a:r>
          </a:p>
          <a:p>
            <a:r>
              <a:rPr lang="en-US" dirty="0"/>
              <a:t>ACF = </a:t>
            </a:r>
            <a:r>
              <a:rPr lang="en-US" b="1" dirty="0"/>
              <a:t>Autocorrelation Function</a:t>
            </a:r>
            <a:r>
              <a:rPr lang="en-US" dirty="0"/>
              <a:t>: measures how correlated the time series is with its past values (lags).</a:t>
            </a:r>
          </a:p>
          <a:p>
            <a:pPr lvl="0"/>
            <a:endParaRPr lang="en-US" dirty="0"/>
          </a:p>
        </p:txBody>
      </p:sp>
      <p:pic>
        <p:nvPicPr>
          <p:cNvPr id="7" name="Picture 6" descr="A graph of sound waves&#10;&#10;AI-generated content may be incorrect.">
            <a:extLst>
              <a:ext uri="{FF2B5EF4-FFF2-40B4-BE49-F238E27FC236}">
                <a16:creationId xmlns:a16="http://schemas.microsoft.com/office/drawing/2014/main" id="{1F27B4AC-0813-2D2A-3C30-77C2C7876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8" y="297954"/>
            <a:ext cx="4785895" cy="2918228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pic>
        <p:nvPicPr>
          <p:cNvPr id="4" name="Picture 3" descr="A graph with a line graph&#10;&#10;AI-generated content may be incorrect.">
            <a:extLst>
              <a:ext uri="{FF2B5EF4-FFF2-40B4-BE49-F238E27FC236}">
                <a16:creationId xmlns:a16="http://schemas.microsoft.com/office/drawing/2014/main" id="{A46410E5-82B0-1B65-C175-3667252EF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1878" b="1745"/>
          <a:stretch>
            <a:fillRect/>
          </a:stretch>
        </p:blipFill>
        <p:spPr>
          <a:xfrm>
            <a:off x="6472760" y="3440143"/>
            <a:ext cx="4785895" cy="2943324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75000"/>
                <a:lumOff val="25000"/>
              </a:scheme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FCB417-15CE-876F-D81E-8E91F66F9DF1}"/>
              </a:ext>
            </a:extLst>
          </p:cNvPr>
          <p:cNvSpPr txBox="1"/>
          <p:nvPr/>
        </p:nvSpPr>
        <p:spPr>
          <a:xfrm>
            <a:off x="6495201" y="6117594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9: ACF Time Series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D1D73-E1AA-54B3-0176-B4FB76811A94}"/>
              </a:ext>
            </a:extLst>
          </p:cNvPr>
          <p:cNvSpPr txBox="1"/>
          <p:nvPr/>
        </p:nvSpPr>
        <p:spPr>
          <a:xfrm>
            <a:off x="6495201" y="2965609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8: ARIMA Analysis</a:t>
            </a:r>
          </a:p>
        </p:txBody>
      </p:sp>
    </p:spTree>
    <p:extLst>
      <p:ext uri="{BB962C8B-B14F-4D97-AF65-F5344CB8AC3E}">
        <p14:creationId xmlns:p14="http://schemas.microsoft.com/office/powerpoint/2010/main" val="3762447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0A5F-2895-CD8A-A3F5-A17611BB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484" y="838978"/>
            <a:ext cx="3401064" cy="1447800"/>
          </a:xfrm>
        </p:spPr>
        <p:txBody>
          <a:bodyPr/>
          <a:lstStyle/>
          <a:p>
            <a:r>
              <a:rPr lang="en-US" dirty="0"/>
              <a:t>ARIMA Analysis Cont’d.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21A93-5367-FEA0-A6E4-805205CDC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2058" y="2520458"/>
            <a:ext cx="3558489" cy="289559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The </a:t>
            </a:r>
            <a:r>
              <a:rPr lang="en-US" sz="1600" b="1" dirty="0"/>
              <a:t>black line</a:t>
            </a:r>
            <a:r>
              <a:rPr lang="en-US" sz="1600" dirty="0"/>
              <a:t> is the actual daily sales for R06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The </a:t>
            </a:r>
            <a:r>
              <a:rPr lang="en-US" sz="1600" b="1" dirty="0"/>
              <a:t>red line</a:t>
            </a:r>
            <a:r>
              <a:rPr lang="en-US" sz="1600" dirty="0"/>
              <a:t> represents the </a:t>
            </a:r>
            <a:r>
              <a:rPr lang="en-US" sz="1600" b="1" dirty="0"/>
              <a:t>model’s fitted values</a:t>
            </a:r>
            <a:r>
              <a:rPr lang="en-US" sz="1600" dirty="0"/>
              <a:t>: this is the original data minus the model’s residuals, i.e., how well the MA(1) model captures the trend in the differenced series and projects it back onto the original scale.</a:t>
            </a:r>
          </a:p>
        </p:txBody>
      </p:sp>
      <p:pic>
        <p:nvPicPr>
          <p:cNvPr id="7" name="Content Placeholder 6" descr="A graph showing the time and time&#10;&#10;AI-generated content may be incorrect.">
            <a:extLst>
              <a:ext uri="{FF2B5EF4-FFF2-40B4-BE49-F238E27FC236}">
                <a16:creationId xmlns:a16="http://schemas.microsoft.com/office/drawing/2014/main" id="{1889E126-944D-2BF9-7056-CBB8A3A7C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8665" y="1562878"/>
            <a:ext cx="6845776" cy="3732244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E62E39-FEE8-6E6B-C21F-3B8B908A5660}"/>
              </a:ext>
            </a:extLst>
          </p:cNvPr>
          <p:cNvSpPr txBox="1"/>
          <p:nvPr/>
        </p:nvSpPr>
        <p:spPr>
          <a:xfrm>
            <a:off x="4668005" y="5295122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10: ARIMA Trend Difference Analysis</a:t>
            </a:r>
          </a:p>
        </p:txBody>
      </p:sp>
    </p:spTree>
    <p:extLst>
      <p:ext uri="{BB962C8B-B14F-4D97-AF65-F5344CB8AC3E}">
        <p14:creationId xmlns:p14="http://schemas.microsoft.com/office/powerpoint/2010/main" val="155956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E64D-F3BD-85CB-395C-E1AD3D08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CB58-7A3D-6DBD-035F-C8DE99AB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484" y="838978"/>
            <a:ext cx="3401064" cy="1447800"/>
          </a:xfrm>
        </p:spPr>
        <p:txBody>
          <a:bodyPr/>
          <a:lstStyle/>
          <a:p>
            <a:r>
              <a:rPr lang="en-US" dirty="0"/>
              <a:t>Training and Validation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B1653-B285-7FB8-99F3-219D6786C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2058" y="2520458"/>
            <a:ext cx="3558489" cy="289559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Sectioning off the final year of the data set to compare to the </a:t>
            </a:r>
            <a:r>
              <a:rPr lang="en-US" sz="1600" dirty="0" err="1"/>
              <a:t>HoltWinters</a:t>
            </a:r>
            <a:r>
              <a:rPr lang="en-US" sz="1600" dirty="0"/>
              <a:t> Forecast to show how accurate the model 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5CAA2-052C-52D7-D403-5A5B8C340E65}"/>
              </a:ext>
            </a:extLst>
          </p:cNvPr>
          <p:cNvSpPr txBox="1"/>
          <p:nvPr/>
        </p:nvSpPr>
        <p:spPr>
          <a:xfrm>
            <a:off x="4790603" y="5293316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17: Training of the Model</a:t>
            </a:r>
          </a:p>
        </p:txBody>
      </p:sp>
      <p:pic>
        <p:nvPicPr>
          <p:cNvPr id="9" name="Content Placeholder 8" descr="A graph showing time and time&#10;&#10;AI-generated content may be incorrect.">
            <a:extLst>
              <a:ext uri="{FF2B5EF4-FFF2-40B4-BE49-F238E27FC236}">
                <a16:creationId xmlns:a16="http://schemas.microsoft.com/office/drawing/2014/main" id="{F2A58339-34F1-CC11-384D-83568B804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4724" y="1404772"/>
            <a:ext cx="6477791" cy="3888544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500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C357-E8A1-27D6-1F71-0920F72E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D710-06CB-743C-697C-A04F1BB1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484" y="838978"/>
            <a:ext cx="3401064" cy="1447800"/>
          </a:xfrm>
        </p:spPr>
        <p:txBody>
          <a:bodyPr/>
          <a:lstStyle/>
          <a:p>
            <a:r>
              <a:rPr lang="en-US" dirty="0" err="1"/>
              <a:t>HoltWinters</a:t>
            </a:r>
            <a:r>
              <a:rPr lang="en-US" dirty="0"/>
              <a:t> – </a:t>
            </a:r>
            <a:br>
              <a:rPr lang="en-US" dirty="0"/>
            </a:br>
            <a:r>
              <a:rPr lang="en-US" dirty="0"/>
              <a:t>Post-Trainings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847DA-A272-9F22-EAF8-1F257CF04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2058" y="2520458"/>
            <a:ext cx="3558489" cy="289559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Sectioning off the final year of the data set to compare to the </a:t>
            </a:r>
            <a:r>
              <a:rPr lang="en-US" sz="1600" dirty="0" err="1"/>
              <a:t>HoltWinters</a:t>
            </a:r>
            <a:r>
              <a:rPr lang="en-US" sz="1600" dirty="0"/>
              <a:t> Forecast to show how accurate the model is.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Red markers show actual sales – blue markers were predictions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CD65E-2BB6-87AB-D389-7E2B41C9257B}"/>
              </a:ext>
            </a:extLst>
          </p:cNvPr>
          <p:cNvSpPr txBox="1"/>
          <p:nvPr/>
        </p:nvSpPr>
        <p:spPr>
          <a:xfrm>
            <a:off x="4790603" y="5293316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18: </a:t>
            </a:r>
            <a:r>
              <a:rPr lang="en-US" sz="1100" dirty="0" err="1"/>
              <a:t>HoltWinters</a:t>
            </a:r>
            <a:r>
              <a:rPr lang="en-US" sz="1100" dirty="0"/>
              <a:t> Model Comparison</a:t>
            </a:r>
          </a:p>
        </p:txBody>
      </p:sp>
      <p:pic>
        <p:nvPicPr>
          <p:cNvPr id="7" name="Content Placeholder 6" descr="A graph showing the weather forecast&#10;&#10;AI-generated content may be incorrect.">
            <a:extLst>
              <a:ext uri="{FF2B5EF4-FFF2-40B4-BE49-F238E27FC236}">
                <a16:creationId xmlns:a16="http://schemas.microsoft.com/office/drawing/2014/main" id="{DA7E98AC-0639-8601-69DA-6112D0FF3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4724" y="1303074"/>
            <a:ext cx="6671215" cy="3981050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5867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84CDC-F2F4-C8E3-E74E-805288C8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806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Psycholeptics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(N05B, N05C)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F2947EF-F89B-5582-18FE-B5DD713A9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623" y="2364828"/>
            <a:ext cx="3333676" cy="38454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Average Monthly sales of these drugs — grouped by Season. </a:t>
            </a:r>
          </a:p>
          <a:p>
            <a:r>
              <a:rPr lang="en-US" sz="1800" dirty="0"/>
              <a:t>Trends remain steady throughout the year – on average.</a:t>
            </a:r>
          </a:p>
          <a:p>
            <a:r>
              <a:rPr lang="en-US" sz="1800" dirty="0"/>
              <a:t>N05B — Anxiety / Stress does </a:t>
            </a:r>
            <a:r>
              <a:rPr lang="en-US" sz="1800" b="1" dirty="0"/>
              <a:t>increase in winter.</a:t>
            </a:r>
          </a:p>
          <a:p>
            <a:r>
              <a:rPr lang="en-US" sz="1800" dirty="0"/>
              <a:t>N05C — Sleep fluctuates with </a:t>
            </a:r>
            <a:r>
              <a:rPr lang="en-US" sz="1800" b="1" dirty="0"/>
              <a:t>consistent but lower usage</a:t>
            </a:r>
            <a:r>
              <a:rPr lang="en-US" sz="1800" dirty="0"/>
              <a:t> year-round.</a:t>
            </a:r>
          </a:p>
          <a:p>
            <a:endParaRPr lang="en-US" sz="1800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 descr="A graph showing the seasons of the year&#10;&#10;AI-generated content may be incorrect.">
            <a:extLst>
              <a:ext uri="{FF2B5EF4-FFF2-40B4-BE49-F238E27FC236}">
                <a16:creationId xmlns:a16="http://schemas.microsoft.com/office/drawing/2014/main" id="{5AA2BA04-93D9-0AB1-089F-3BA7AC9F08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259" y="1477280"/>
            <a:ext cx="6474753" cy="3998234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110D34-CE43-1E6D-D610-6F09222C9436}"/>
              </a:ext>
            </a:extLst>
          </p:cNvPr>
          <p:cNvSpPr txBox="1"/>
          <p:nvPr/>
        </p:nvSpPr>
        <p:spPr>
          <a:xfrm>
            <a:off x="588259" y="5497109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11: Seasonal Trends</a:t>
            </a:r>
            <a:r>
              <a:rPr lang="en-US" sz="1100" dirty="0"/>
              <a:t> </a:t>
            </a:r>
            <a:r>
              <a:rPr lang="en-US" sz="1100" dirty="0">
                <a:solidFill>
                  <a:schemeClr val="bg1"/>
                </a:solidFill>
              </a:rPr>
              <a:t>— </a:t>
            </a:r>
            <a:r>
              <a:rPr lang="en-US" sz="1100" dirty="0" err="1">
                <a:solidFill>
                  <a:schemeClr val="bg1"/>
                </a:solidFill>
              </a:rPr>
              <a:t>Psycholeptics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642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5E1F-1367-2C11-06F4-5E382552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8901-4F79-BE2B-14B7-E7299CCC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Health Medication Usage Over Time</a:t>
            </a:r>
          </a:p>
        </p:txBody>
      </p:sp>
      <p:pic>
        <p:nvPicPr>
          <p:cNvPr id="4" name="Picture 3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FF942EC0-9471-8BDC-6F09-EA57F4145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70" y="2092700"/>
            <a:ext cx="5692630" cy="3525970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B7B66-87D2-F4D0-594C-34B04D276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9856" y="1853248"/>
            <a:ext cx="4396341" cy="4200245"/>
          </a:xfrm>
        </p:spPr>
        <p:txBody>
          <a:bodyPr/>
          <a:lstStyle/>
          <a:p>
            <a:r>
              <a:rPr lang="en-US" dirty="0"/>
              <a:t>For long term patters — sales trends for full data set period</a:t>
            </a:r>
          </a:p>
          <a:p>
            <a:r>
              <a:rPr lang="en-US" dirty="0"/>
              <a:t>N05B — Anxiety / Stress — has </a:t>
            </a:r>
            <a:r>
              <a:rPr lang="en-US" b="1" dirty="0"/>
              <a:t>spikes in mid-to-late 2014 and  2016, then again around 2018</a:t>
            </a:r>
            <a:r>
              <a:rPr lang="en-US" dirty="0"/>
              <a:t>, which could be a point to look further into — to (potentially) find correlation / causation from external stressors or political events. </a:t>
            </a:r>
          </a:p>
          <a:p>
            <a:r>
              <a:rPr lang="en-US" dirty="0"/>
              <a:t>N05C —  can be seen steadily increasing throughout the years with a </a:t>
            </a:r>
            <a:r>
              <a:rPr lang="en-US" b="1" dirty="0"/>
              <a:t>similar spike around 2018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F5778-D421-7104-7000-B5A9C79D35AD}"/>
              </a:ext>
            </a:extLst>
          </p:cNvPr>
          <p:cNvSpPr txBox="1"/>
          <p:nvPr/>
        </p:nvSpPr>
        <p:spPr>
          <a:xfrm>
            <a:off x="870370" y="5618670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12: Overall Trends — </a:t>
            </a:r>
            <a:r>
              <a:rPr lang="en-US" sz="1100" dirty="0" err="1"/>
              <a:t>Psycholeptics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40572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228B4-DE07-5EA9-FF24-050241695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A537685-D56A-71D8-F7B0-6627B22A8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E55BB9C-A00D-1FF3-1C07-C939E81E5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7CE31C5-FDB8-FF37-0E51-92D9A2397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044AA8B-8EBA-F174-39FF-1CDB288E0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ACB1637-27BE-FF50-FE0D-8987433E7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17FE25-3597-3CCD-A263-00A5403ED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158B2-761F-33F6-9A9B-6E9416D3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806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Anxiety Medications Regression Analysis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1080C24-9B83-63D9-FCC1-38ED117C4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623" y="2364828"/>
            <a:ext cx="3333676" cy="384547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1800" dirty="0"/>
              <a:t>N02BA and N05B sales are </a:t>
            </a:r>
            <a:r>
              <a:rPr lang="en-US" sz="1800" b="1" dirty="0"/>
              <a:t>positively correlated</a:t>
            </a:r>
            <a:r>
              <a:rPr lang="en-US" sz="1800" dirty="0"/>
              <a:t>.</a:t>
            </a:r>
          </a:p>
          <a:p>
            <a:pPr lvl="1"/>
            <a:r>
              <a:rPr lang="en-US" sz="1600" dirty="0"/>
              <a:t>Possibly because both are used more during cold/flu seasons (pain + anxiety).</a:t>
            </a:r>
          </a:p>
          <a:p>
            <a:r>
              <a:rPr lang="en-US" sz="1800" dirty="0"/>
              <a:t>R06 and N05B have a </a:t>
            </a:r>
            <a:r>
              <a:rPr lang="en-US" sz="1800" b="1" dirty="0"/>
              <a:t>negative correlation</a:t>
            </a:r>
            <a:r>
              <a:rPr lang="en-US" sz="1800" dirty="0"/>
              <a:t>.</a:t>
            </a:r>
          </a:p>
          <a:p>
            <a:pPr lvl="1"/>
            <a:r>
              <a:rPr lang="en-US" sz="1600" dirty="0"/>
              <a:t>Could suggest that when allergy meds are in higher use, anxiety meds slightly drop — perhaps seasonal inverse usage or different patient groups.</a:t>
            </a:r>
          </a:p>
          <a:p>
            <a:endParaRPr lang="en-US" sz="1800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B8F4CAD-E039-F47D-33B2-899E0DF5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31">
            <a:extLst>
              <a:ext uri="{FF2B5EF4-FFF2-40B4-BE49-F238E27FC236}">
                <a16:creationId xmlns:a16="http://schemas.microsoft.com/office/drawing/2014/main" id="{3890F348-DF81-2F00-4905-F7F337E2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4B92CA-42F3-99FC-F76F-A730E9E52949}"/>
              </a:ext>
            </a:extLst>
          </p:cNvPr>
          <p:cNvSpPr txBox="1"/>
          <p:nvPr/>
        </p:nvSpPr>
        <p:spPr>
          <a:xfrm>
            <a:off x="588259" y="5497109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19: Regression Matrix - Psych Meds</a:t>
            </a:r>
          </a:p>
        </p:txBody>
      </p:sp>
      <p:pic>
        <p:nvPicPr>
          <p:cNvPr id="4" name="Picture 3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26B22FD7-2C42-7A45-D099-2F760183D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1" y="1300754"/>
            <a:ext cx="6020056" cy="4219297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6239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C1ED-8191-B3F7-B5D7-BCFFB2ED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1C3B-B50F-0B4E-EB61-1FDFE981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of Pain Relief Drugs</a:t>
            </a:r>
          </a:p>
        </p:txBody>
      </p:sp>
      <p:pic>
        <p:nvPicPr>
          <p:cNvPr id="5" name="Picture 4" descr="A graph of pain relief drugs&#10;&#10;AI-generated content may be incorrect.">
            <a:extLst>
              <a:ext uri="{FF2B5EF4-FFF2-40B4-BE49-F238E27FC236}">
                <a16:creationId xmlns:a16="http://schemas.microsoft.com/office/drawing/2014/main" id="{08C2C4B1-3620-2019-DA2B-EC6FAB1D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70" y="2092700"/>
            <a:ext cx="5685729" cy="3525970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43B5C-EFB8-14DF-BFE5-07D9D21FC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5289" y="1420013"/>
            <a:ext cx="4516141" cy="4200245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950" dirty="0"/>
              <a:t>1. Paracetamol (cyan line) dominates sales: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It is consistently the highest-selling drug group over the entire period.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Sales show seasonal spikes (e.g., visible in early 2015, 2016, 2017, and late 2018), likely during cold/flu seasons or other viral outbreaks.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One large spike in early 2017 likely reflects a significant demand event — possibly due to a widespread illness or policy change.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950" dirty="0"/>
              <a:t>2. NSAIDs (Acetic &amp; Propionic) and </a:t>
            </a:r>
            <a:r>
              <a:rPr lang="en-US" sz="950" dirty="0" err="1"/>
              <a:t>Aspirin_Group</a:t>
            </a:r>
            <a:r>
              <a:rPr lang="en-US" sz="950" dirty="0"/>
              <a:t> have: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Lower but steady usage over time.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No major upward or downward trend — usage remains fairly stable.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These lines hover around a baseline, showing less seasonal variation than paracetamol.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950" dirty="0"/>
              <a:t>3. No major structural shifts over time: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No medication shows a dramatic upward or downward long-term trend.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950" dirty="0"/>
              <a:t>Interpretation / Insights: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Paracetamol sales show short-term bursts, while the others remain flat with minor fluctuations.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Paracetamol appears to be the first-line pain/fever remedy for the population — likely due to OTC availability and broad usage.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Spikes in </a:t>
            </a:r>
            <a:r>
              <a:rPr lang="en-US" sz="950" dirty="0" err="1"/>
              <a:t>Paracetamol_Group</a:t>
            </a:r>
            <a:r>
              <a:rPr lang="en-US" sz="950" dirty="0"/>
              <a:t> align with expected flu seasons (winter to early spring).</a:t>
            </a:r>
          </a:p>
          <a:p>
            <a:pPr>
              <a:spcBef>
                <a:spcPts val="400"/>
              </a:spcBef>
            </a:pPr>
            <a:r>
              <a:rPr lang="en-US" sz="950" dirty="0"/>
              <a:t>NSAIDs and Aspirin may be more commonly used for chronic or inflammatory conditions, leading to steady, non-seasonal patterns.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0592A-E242-E1CC-38FB-211642E15921}"/>
              </a:ext>
            </a:extLst>
          </p:cNvPr>
          <p:cNvSpPr txBox="1"/>
          <p:nvPr/>
        </p:nvSpPr>
        <p:spPr>
          <a:xfrm>
            <a:off x="870370" y="5618670"/>
            <a:ext cx="30708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13:  Overall Trends — Pain Medications</a:t>
            </a:r>
          </a:p>
        </p:txBody>
      </p:sp>
    </p:spTree>
    <p:extLst>
      <p:ext uri="{BB962C8B-B14F-4D97-AF65-F5344CB8AC3E}">
        <p14:creationId xmlns:p14="http://schemas.microsoft.com/office/powerpoint/2010/main" val="227176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F3DAD-77E6-7884-74CB-BEB4D838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D92C4D3-0630-3FFB-8A03-7EDADBD80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57A98C9-3011-5158-44C8-6ECBAC8C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71E1ACCB-D4CF-8189-2D26-C21879049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AA76A71-B353-414D-D899-06F7415C4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C7A50C1-71D5-AFE2-D821-4F8AEB658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2576143-7F11-9F40-E5AA-22256D998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485A3-3CAB-2533-D656-291C7A9B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021641"/>
            <a:ext cx="3333676" cy="110330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Pain Relief / Anti-Inflammatories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0777DF4-5D85-443F-CA23-A38B9CF46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31">
            <a:extLst>
              <a:ext uri="{FF2B5EF4-FFF2-40B4-BE49-F238E27FC236}">
                <a16:creationId xmlns:a16="http://schemas.microsoft.com/office/drawing/2014/main" id="{72894AC3-ABBC-BFB5-8B19-2CF7C376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 descr="A graph showing the seasons&#10;&#10;AI-generated content may be incorrect.">
            <a:extLst>
              <a:ext uri="{FF2B5EF4-FFF2-40B4-BE49-F238E27FC236}">
                <a16:creationId xmlns:a16="http://schemas.microsoft.com/office/drawing/2014/main" id="{EB7E67D7-8445-302A-0281-4C8593C2A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19" y="377175"/>
            <a:ext cx="4785894" cy="2955290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pic>
        <p:nvPicPr>
          <p:cNvPr id="15" name="Picture 14" descr="A graph showing the seasonal sales for seasonal sales&#10;&#10;AI-generated content may be incorrect.">
            <a:extLst>
              <a:ext uri="{FF2B5EF4-FFF2-40B4-BE49-F238E27FC236}">
                <a16:creationId xmlns:a16="http://schemas.microsoft.com/office/drawing/2014/main" id="{27876629-E9E8-DF04-2F6D-0A011C8A3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2277" y="3507590"/>
            <a:ext cx="4785892" cy="2955289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FEB5D232-D3BD-371B-C393-2BB899D6DFEA}"/>
              </a:ext>
            </a:extLst>
          </p:cNvPr>
          <p:cNvSpPr txBox="1">
            <a:spLocks/>
          </p:cNvSpPr>
          <p:nvPr/>
        </p:nvSpPr>
        <p:spPr>
          <a:xfrm>
            <a:off x="8023153" y="2163048"/>
            <a:ext cx="3885068" cy="4299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M01AB — NSAIDs</a:t>
            </a:r>
          </a:p>
          <a:p>
            <a:r>
              <a:rPr lang="en-US" sz="1800" dirty="0"/>
              <a:t>Steady </a:t>
            </a:r>
            <a:r>
              <a:rPr lang="en-US" sz="1800" b="1" dirty="0"/>
              <a:t>increase Fall → Spring → Summer </a:t>
            </a:r>
            <a:r>
              <a:rPr lang="en-US" sz="1800" dirty="0"/>
              <a:t>with a </a:t>
            </a:r>
            <a:r>
              <a:rPr lang="en-US" sz="1800" b="1" dirty="0"/>
              <a:t>notable drop in Winter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M01AE — Ibuprofen / Naproxen</a:t>
            </a:r>
          </a:p>
          <a:p>
            <a:r>
              <a:rPr lang="en-US" sz="1800" dirty="0"/>
              <a:t>Slight increases in </a:t>
            </a:r>
            <a:r>
              <a:rPr lang="en-US" sz="1800" b="1" dirty="0"/>
              <a:t>Fall/Winter </a:t>
            </a:r>
            <a:r>
              <a:rPr lang="en-US" sz="1800" dirty="0"/>
              <a:t>— could suggest </a:t>
            </a:r>
            <a:r>
              <a:rPr lang="en-US" sz="1800" b="1" dirty="0"/>
              <a:t>correlation to cold/flu season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N02BA — Aspirin</a:t>
            </a:r>
          </a:p>
          <a:p>
            <a:r>
              <a:rPr lang="en-US" sz="1800" b="1" dirty="0"/>
              <a:t>Extreme jumps </a:t>
            </a:r>
            <a:r>
              <a:rPr lang="en-US" sz="1800" dirty="0"/>
              <a:t>between</a:t>
            </a:r>
            <a:r>
              <a:rPr lang="en-US" sz="1800" b="1" dirty="0"/>
              <a:t> Spring / Summer </a:t>
            </a:r>
            <a:r>
              <a:rPr lang="en-US" sz="1800" dirty="0"/>
              <a:t>to</a:t>
            </a:r>
            <a:r>
              <a:rPr lang="en-US" sz="1800" b="1" dirty="0"/>
              <a:t> Fall /Winter</a:t>
            </a:r>
            <a:r>
              <a:rPr lang="en-US" sz="1800" dirty="0"/>
              <a:t>. Overall one of the </a:t>
            </a:r>
            <a:r>
              <a:rPr lang="en-US" sz="1800" b="1" dirty="0"/>
              <a:t>best selling drugs</a:t>
            </a:r>
            <a:r>
              <a:rPr lang="en-US" sz="1800" dirty="0"/>
              <a:t>. </a:t>
            </a:r>
          </a:p>
          <a:p>
            <a:pPr marL="0" indent="0">
              <a:buNone/>
            </a:pPr>
            <a:r>
              <a:rPr lang="en-US" sz="1800" dirty="0"/>
              <a:t>N02BE — Acetaminophin</a:t>
            </a:r>
          </a:p>
          <a:p>
            <a:r>
              <a:rPr lang="en-US" sz="1800" dirty="0"/>
              <a:t>Notably </a:t>
            </a:r>
            <a:r>
              <a:rPr lang="en-US" sz="1800" b="1" dirty="0"/>
              <a:t>lower sales than its counterpart</a:t>
            </a:r>
            <a:r>
              <a:rPr lang="en-US" sz="1800" dirty="0"/>
              <a:t> (Aspirin) with </a:t>
            </a:r>
            <a:r>
              <a:rPr lang="en-US" sz="1800" b="1" dirty="0"/>
              <a:t>no notable seasonal trends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EDD0B-A99F-9331-ECD3-3A0B0407DC60}"/>
              </a:ext>
            </a:extLst>
          </p:cNvPr>
          <p:cNvSpPr txBox="1"/>
          <p:nvPr/>
        </p:nvSpPr>
        <p:spPr>
          <a:xfrm>
            <a:off x="1242276" y="133511"/>
            <a:ext cx="34860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14:  Seasonal Trends — Pain Medications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48680-BF66-41A7-9398-405B76FA9196}"/>
              </a:ext>
            </a:extLst>
          </p:cNvPr>
          <p:cNvSpPr txBox="1"/>
          <p:nvPr/>
        </p:nvSpPr>
        <p:spPr>
          <a:xfrm>
            <a:off x="1242275" y="6462879"/>
            <a:ext cx="34860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Fig. 15:  Seasonal Trends — NSAIDs</a:t>
            </a:r>
          </a:p>
        </p:txBody>
      </p:sp>
    </p:spTree>
    <p:extLst>
      <p:ext uri="{BB962C8B-B14F-4D97-AF65-F5344CB8AC3E}">
        <p14:creationId xmlns:p14="http://schemas.microsoft.com/office/powerpoint/2010/main" val="1630560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082C-4AD7-2FBC-C7EF-B270A94F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72DF-0A1A-B9AB-1280-34C95972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 of Average Drug </a:t>
            </a:r>
            <a:br>
              <a:rPr lang="en-US" dirty="0"/>
            </a:br>
            <a:r>
              <a:rPr lang="en-US" dirty="0"/>
              <a:t>Sales by Cluster</a:t>
            </a:r>
          </a:p>
        </p:txBody>
      </p:sp>
      <p:pic>
        <p:nvPicPr>
          <p:cNvPr id="5" name="Picture 4" descr="A graph showing a number of drugs&#10;&#10;AI-generated content may be incorrect.">
            <a:extLst>
              <a:ext uri="{FF2B5EF4-FFF2-40B4-BE49-F238E27FC236}">
                <a16:creationId xmlns:a16="http://schemas.microsoft.com/office/drawing/2014/main" id="{7F3DD0E1-AD5D-F5A5-E4B2-65ECE5D0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03" y="2092701"/>
            <a:ext cx="5778024" cy="3546169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679E6-DADF-9A1E-2405-D81C26D11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9856" y="1308100"/>
            <a:ext cx="4636033" cy="509718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/>
              <a:t>The heatmap reveals distinct usage patterns across drug categories segmented by sales intensity clusters:</a:t>
            </a:r>
          </a:p>
          <a:p>
            <a:pPr marL="0" indent="0" algn="ctr">
              <a:buNone/>
            </a:pPr>
            <a:r>
              <a:rPr lang="en-US" sz="1100" dirty="0"/>
              <a:t>**Cluster 3 – High Sales** </a:t>
            </a:r>
          </a:p>
          <a:p>
            <a:r>
              <a:rPr lang="en-US" sz="1100" dirty="0"/>
              <a:t>This cluster shows the highest average drug sales, with a strong concentration in **</a:t>
            </a:r>
            <a:r>
              <a:rPr lang="en-US" sz="1100" dirty="0" err="1"/>
              <a:t>Paracetamol_Group</a:t>
            </a:r>
            <a:r>
              <a:rPr lang="en-US" sz="1100" dirty="0"/>
              <a:t>**. This pattern suggests flu or cold season spikes, likely during winter months. **</a:t>
            </a:r>
            <a:r>
              <a:rPr lang="en-US" sz="1100" dirty="0" err="1"/>
              <a:t>Asthma_Drugs</a:t>
            </a:r>
            <a:r>
              <a:rPr lang="en-US" sz="1100" dirty="0"/>
              <a:t>** and **</a:t>
            </a:r>
            <a:r>
              <a:rPr lang="en-US" sz="1100" dirty="0" err="1"/>
              <a:t>Anxiety_Drugs</a:t>
            </a:r>
            <a:r>
              <a:rPr lang="en-US" sz="1100" dirty="0"/>
              <a:t>** also show moderate elevation, possibly due to increased respiratory stress during colder seasons.</a:t>
            </a:r>
          </a:p>
          <a:p>
            <a:pPr marL="0" indent="0" algn="ctr">
              <a:buNone/>
            </a:pPr>
            <a:r>
              <a:rPr lang="en-US" sz="1100" dirty="0"/>
              <a:t>**Cluster 1 – Moderate Sales**</a:t>
            </a:r>
          </a:p>
          <a:p>
            <a:r>
              <a:rPr lang="en-US" sz="1100" dirty="0"/>
              <a:t>Drug usage is more balanced in this cluster. **</a:t>
            </a:r>
            <a:r>
              <a:rPr lang="en-US" sz="1100" dirty="0" err="1"/>
              <a:t>Anxiety_Drugs</a:t>
            </a:r>
            <a:r>
              <a:rPr lang="en-US" sz="1100" dirty="0"/>
              <a:t>** stand out with higher average values compared to other clusters, potentially indicating general stress-related or chronic mental health demand. **</a:t>
            </a:r>
            <a:r>
              <a:rPr lang="en-US" sz="1100" dirty="0" err="1"/>
              <a:t>Paracetamol_Group</a:t>
            </a:r>
            <a:r>
              <a:rPr lang="en-US" sz="1100" dirty="0"/>
              <a:t>** also remains elevated, though not as intense as in Cluster 3.</a:t>
            </a:r>
          </a:p>
          <a:p>
            <a:pPr marL="0" indent="0" algn="ctr">
              <a:buNone/>
            </a:pPr>
            <a:r>
              <a:rPr lang="en-US" sz="1100" dirty="0"/>
              <a:t>**Cluster 2 – Low Sales** </a:t>
            </a:r>
          </a:p>
          <a:p>
            <a:r>
              <a:rPr lang="en-US" sz="1100" dirty="0"/>
              <a:t>Sales levels drop for all drugs, though **</a:t>
            </a:r>
            <a:r>
              <a:rPr lang="en-US" sz="1100" dirty="0" err="1"/>
              <a:t>Paracetamol_Group</a:t>
            </a:r>
            <a:r>
              <a:rPr lang="en-US" sz="1100" dirty="0"/>
              <a:t>** maintains a modest presence. This cluster likely reflects regular days without major illness surges or seasonal effects.</a:t>
            </a:r>
          </a:p>
          <a:p>
            <a:pPr marL="0" indent="0" algn="ctr">
              <a:buNone/>
            </a:pPr>
            <a:r>
              <a:rPr lang="en-US" sz="1100" dirty="0"/>
              <a:t>**Cluster 4 – Very Low Sales** </a:t>
            </a:r>
          </a:p>
          <a:p>
            <a:r>
              <a:rPr lang="en-US" sz="1100" dirty="0"/>
              <a:t>This cluster exhibits the lowest drug sales across all categories, suggesting minimal demand. These may correspond to weekends, holidays, or summer periods when illness and medication use typically decline.</a:t>
            </a:r>
          </a:p>
          <a:p>
            <a:pPr marL="0" indent="0" algn="ctr">
              <a:buNone/>
            </a:pPr>
            <a:r>
              <a:rPr lang="en-US" sz="1100" dirty="0"/>
              <a:t>**Key Insight:** </a:t>
            </a:r>
          </a:p>
          <a:p>
            <a:r>
              <a:rPr lang="en-US" sz="1100" dirty="0"/>
              <a:t>Paracetamol dominates high-sales clusters, supporting its role as a first-line response for common illnesses. Anxiety and sleep medications peak during moderate usage periods, reflecting steady, non-seasonal demand. NSAID groups show consistent but low variation across clusters, implying their use is less tied to seasonal illness patterns.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787AE-EF5D-CDB3-C9E3-355C79C75864}"/>
              </a:ext>
            </a:extLst>
          </p:cNvPr>
          <p:cNvSpPr txBox="1"/>
          <p:nvPr/>
        </p:nvSpPr>
        <p:spPr>
          <a:xfrm>
            <a:off x="885803" y="5638870"/>
            <a:ext cx="34860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16:  Heatmap</a:t>
            </a:r>
          </a:p>
        </p:txBody>
      </p:sp>
    </p:spTree>
    <p:extLst>
      <p:ext uri="{BB962C8B-B14F-4D97-AF65-F5344CB8AC3E}">
        <p14:creationId xmlns:p14="http://schemas.microsoft.com/office/powerpoint/2010/main" val="2813926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F4C1A-17C8-F2EB-6194-6D98605D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>
                <a:solidFill>
                  <a:srgbClr val="EBEBEB"/>
                </a:solidFill>
              </a:rPr>
              <a:t>Challenges &amp; Limitations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2AB756-7776-9A39-0EE7-DBF1769C3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914835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742613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A6F20-34F7-CC1C-E904-138028DA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AFFD5-778B-2951-DE21-5810693F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Future Expansions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427CB1-16A4-28A4-97BF-54CDE671FB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28363266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02552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F214E-E191-D6C1-4817-26A78CE0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B572-A419-994B-400A-E5EF2A54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Appendices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CACA-375E-B9E7-8079-ACFD6A312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855" y="3072385"/>
            <a:ext cx="3108057" cy="294741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Key R code snippets (formatted and commented)</a:t>
            </a:r>
          </a:p>
          <a:p>
            <a:r>
              <a:rPr lang="en-US" sz="1400">
                <a:solidFill>
                  <a:srgbClr val="FFFFFF"/>
                </a:solidFill>
              </a:rPr>
              <a:t>Extended plots if needed</a:t>
            </a:r>
          </a:p>
          <a:p>
            <a:r>
              <a:rPr lang="en-US" sz="1400">
                <a:solidFill>
                  <a:srgbClr val="FFFFFF"/>
                </a:solidFill>
              </a:rPr>
              <a:t>ATC code descriptions</a:t>
            </a:r>
          </a:p>
          <a:p>
            <a:pPr marL="0" indent="0"/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0F227D-B500-52DB-F94B-EC0BEB21A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32125"/>
              </p:ext>
            </p:extLst>
          </p:nvPr>
        </p:nvGraphicFramePr>
        <p:xfrm>
          <a:off x="5096656" y="1540486"/>
          <a:ext cx="6640642" cy="353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21">
                  <a:extLst>
                    <a:ext uri="{9D8B030D-6E8A-4147-A177-3AD203B41FA5}">
                      <a16:colId xmlns:a16="http://schemas.microsoft.com/office/drawing/2014/main" val="1434529799"/>
                    </a:ext>
                  </a:extLst>
                </a:gridCol>
                <a:gridCol w="3320321">
                  <a:extLst>
                    <a:ext uri="{9D8B030D-6E8A-4147-A177-3AD203B41FA5}">
                      <a16:colId xmlns:a16="http://schemas.microsoft.com/office/drawing/2014/main" val="3947032534"/>
                    </a:ext>
                  </a:extLst>
                </a:gridCol>
              </a:tblGrid>
              <a:tr h="509301">
                <a:tc gridSpan="2"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Figure Number Index</a:t>
                      </a:r>
                    </a:p>
                  </a:txBody>
                  <a:tcPr marL="84199" marR="84199" marT="42099" marB="42099"/>
                </a:tc>
                <a:tc hMerge="1"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3592534889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1: Overview of the Data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10: ARIMA Trend Difference Analysis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4243794900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2: ATC Drug Categories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11: Seasonal Trends —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</a:rPr>
                        <a:t>Psycholeptics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1593617039"/>
                  </a:ext>
                </a:extLst>
              </a:tr>
              <a:tr h="32548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3: Seasonal Sales Trends — Respiratory / Allergy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12: Overall Trends —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</a:rPr>
                        <a:t>Psycholeptics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131659768"/>
                  </a:ext>
                </a:extLst>
              </a:tr>
              <a:tr h="3092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4: Seasonal Sales Trends II — Respiratory / Allergy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13:  Overall Trends — Pain Medications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4172288422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5: Cluster Averages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14:  Seasonal Trends — Pain Medications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2200323448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6: Holt-Winters Filtering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15:  Seasonal Trends — NSAIDs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2656009246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7: Holt-Winters Prediction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16:  Heatmap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3434607705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8: ARIMA Analysis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Fig. 17: Cluster Map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2347117653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Fig. 9: ACF Time Series Analysis</a:t>
                      </a: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Fig. 18: </a:t>
                      </a:r>
                      <a:r>
                        <a:rPr lang="en-US" sz="900" dirty="0" err="1"/>
                        <a:t>HoltWinters</a:t>
                      </a:r>
                      <a:r>
                        <a:rPr lang="en-US" sz="900" dirty="0"/>
                        <a:t> Model Comparison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77457019"/>
                  </a:ext>
                </a:extLst>
              </a:tr>
              <a:tr h="2984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84199" marR="84199" marT="42099" marB="42099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Fig. 19: Regression Matrix - Psych Meds</a:t>
                      </a:r>
                    </a:p>
                  </a:txBody>
                  <a:tcPr marL="84199" marR="84199" marT="42099" marB="42099"/>
                </a:tc>
                <a:extLst>
                  <a:ext uri="{0D108BD9-81ED-4DB2-BD59-A6C34878D82A}">
                    <a16:rowId xmlns:a16="http://schemas.microsoft.com/office/drawing/2014/main" val="1408392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03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7402-D54E-4627-DA6E-C7E31E42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B812A-1744-737C-5EDA-2DBCA4761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2" y="1597405"/>
            <a:ext cx="4396339" cy="4195763"/>
          </a:xfrm>
        </p:spPr>
        <p:txBody>
          <a:bodyPr/>
          <a:lstStyle/>
          <a:p>
            <a:r>
              <a:rPr lang="en-US" dirty="0"/>
              <a:t>Figure 3. Seasonal Sales Trends — Respiratory / Allergy </a:t>
            </a:r>
          </a:p>
        </p:txBody>
      </p:sp>
      <p:pic>
        <p:nvPicPr>
          <p:cNvPr id="6" name="Content Placeholder 5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47628DC3-2B60-45BF-D468-8A8EF64E44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18234" y="2471050"/>
            <a:ext cx="9355531" cy="3122074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2127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F5FCD-4DAF-DFA3-F603-14F76433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EF17-CBDC-F128-7D66-4D54DE47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714B-8376-678A-420C-C677ED70B8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2" y="1597405"/>
            <a:ext cx="7890268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4: Seasonal Sales Trends II — Respiratory / Allergy</a:t>
            </a:r>
          </a:p>
        </p:txBody>
      </p:sp>
      <p:pic>
        <p:nvPicPr>
          <p:cNvPr id="8" name="Content Placeholder 7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B05BFFB9-4744-F1FA-91CA-BE6F4B41A5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96368" y="2059247"/>
            <a:ext cx="6799263" cy="4129335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3652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FA74-D4FA-5C64-1418-AC3A7AA2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BF32-D4AE-F660-0C71-5AED4ABA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96F11-EF32-8887-3CE1-6F88594EA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2" y="1597405"/>
            <a:ext cx="7890268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5: Cluster Averages</a:t>
            </a:r>
          </a:p>
        </p:txBody>
      </p:sp>
      <p:pic>
        <p:nvPicPr>
          <p:cNvPr id="7" name="Content Placeholder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CD95D107-11D2-94FE-625F-3617146BD0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76165" y="2172507"/>
            <a:ext cx="6239669" cy="3920318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3145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AE3E-C401-F1F1-8361-F5284AF6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9295-B822-7FF7-F494-5BC3C39D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8320-5D97-AE8F-A807-C242F4CF2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2" y="1597405"/>
            <a:ext cx="7890268" cy="4195763"/>
          </a:xfrm>
        </p:spPr>
        <p:txBody>
          <a:bodyPr/>
          <a:lstStyle/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6: Holt-Winters Filtering / Fig. 7: Holt-Winters Prediction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8" name="Content Placeholder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CEF7023-6A69-2B93-38DB-60D9A57574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63618" y="2219318"/>
            <a:ext cx="7464763" cy="3446964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037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61661-8DB9-CAE2-071F-C249BFAA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4BF9-1E92-75DD-942F-B18F2731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6C7A-1411-DFC4-288E-8A158636A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8: ARIMA Analysis / Fig. 9: ACF Time Series Analysis / Fig. 10: ARIMA Trend Difference Analysis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7" name="Content Placeholder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64E0253-401E-F437-639D-4C827B26B1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69843" y="4040060"/>
            <a:ext cx="6036087" cy="1400530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4D67571-3C66-89FD-2478-534D09C9E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844" y="2402542"/>
            <a:ext cx="6036086" cy="1379677"/>
          </a:xfrm>
          <a:prstGeom prst="rect">
            <a:avLst/>
          </a:prstGeo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5487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293B-A64D-C71D-9D21-B45856FD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9C78-AB40-93FD-4D0C-CD75ED49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D0FE3-4E1A-CFAE-C8A2-C51B71628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11: Seasonal Trends — </a:t>
            </a:r>
            <a:r>
              <a:rPr lang="en-US" dirty="0" err="1"/>
              <a:t>Psycholeptics</a:t>
            </a: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8" name="Content Placeholder 7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D42A1A09-760F-9F10-FE33-C57A883492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41173" y="2376002"/>
            <a:ext cx="9158472" cy="3417166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581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18FF-CEB4-D913-533C-E3D2973F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CB48-EEB2-AE6C-186B-BFD59F491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958F3-E08A-9845-D27C-004201237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12: Overall Trends — </a:t>
            </a:r>
            <a:r>
              <a:rPr lang="en-US" dirty="0" err="1"/>
              <a:t>Psycholeptics</a:t>
            </a: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7" name="Content Placeholder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1B28996-4D31-9320-BA7E-FB5825E8BA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14681" y="2405150"/>
            <a:ext cx="9762637" cy="3388018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3038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E861-BC5E-FC43-6B7E-CFBA4862E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80FE-462C-4786-A88C-47CCA350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6E0B-3A71-22C7-DB9E-05C9EA45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13:  Overall Trends — Pain Medications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8" name="Content Placeholder 7" descr="A computer screen with white and green text&#10;&#10;AI-generated content may be incorrect.">
            <a:extLst>
              <a:ext uri="{FF2B5EF4-FFF2-40B4-BE49-F238E27FC236}">
                <a16:creationId xmlns:a16="http://schemas.microsoft.com/office/drawing/2014/main" id="{ECFBF97E-708B-5F3D-53C9-7188C57CFD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3352" y="2352821"/>
            <a:ext cx="9214114" cy="3282527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3986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D2D92-3368-E774-D114-C7148BFD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C236-E27E-2F35-1E11-06149CDB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5395-3CB9-3CC8-9DD3-44FE3A944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14:  Seasonal Trends — Pain Medications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12" name="Content Placeholder 11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ACC07A2D-B5D2-157B-B3F3-7A77E6E71B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20796" y="2397580"/>
            <a:ext cx="8799226" cy="3245936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319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A038-1698-E408-36B8-7C4DD9B0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0F42-9E60-CC2B-54FA-E9E63B8B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5E502-7160-75B0-D3B9-CC22C99AC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15:  Seasonal Trends — NSAIDs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7" name="Content Placeholder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AA2D409C-5160-2D4C-599E-2A50AC90A0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16876" y="2222033"/>
            <a:ext cx="7607066" cy="3963680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3257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32D4-8683-19B6-2C7E-5E6940E9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B2BF-857C-31B5-39C2-275D12EA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EB9B-8164-AB61-99C2-6DDF57798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16:  Heatmap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46E46A9-FF52-9B96-4235-AE436849DC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63737" y="1597405"/>
            <a:ext cx="6113343" cy="4590369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796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B08C-5301-A978-EFDF-C5786482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DD90-7DAF-68BA-8F30-360FECB5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3FC8-B175-4B33-046F-431999164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17: Cluster 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5C8FAF-C085-E82E-2BC1-E7B31B9FB2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42659" y="1313747"/>
            <a:ext cx="4706681" cy="4790730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3400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BB67-D66B-0265-870E-C731B1FF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D865-3F72-06D2-7F23-EA0A0DE9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10AA-D0E3-4D12-57E4-96A4AFB94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Fig. 18: </a:t>
            </a:r>
            <a:r>
              <a:rPr lang="en-US" dirty="0" err="1"/>
              <a:t>HoltWinters</a:t>
            </a:r>
            <a:r>
              <a:rPr lang="en-US" dirty="0"/>
              <a:t> Model Comparison</a:t>
            </a:r>
          </a:p>
        </p:txBody>
      </p:sp>
      <p:pic>
        <p:nvPicPr>
          <p:cNvPr id="12" name="Content Placeholder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6FB12C-9436-A983-69F1-4C39AE8562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11419" y="2285208"/>
            <a:ext cx="8617980" cy="3507960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7062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C2A0-3611-EBB9-490C-B9575A8F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072E-93D3-B255-70CE-2D885451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F5E6-6053-F210-A97E-3E7E3E5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31" y="1597405"/>
            <a:ext cx="10850957" cy="4195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Fig. 19: Regression Matrix - Psych Meds</a:t>
            </a:r>
          </a:p>
        </p:txBody>
      </p:sp>
      <p:pic>
        <p:nvPicPr>
          <p:cNvPr id="7" name="Content Placeholder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A3E7ED8-F4B5-A0FC-AC16-3FDB769439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86541" y="2777155"/>
            <a:ext cx="8018918" cy="1303689"/>
          </a:xfrm>
          <a:effectLst>
            <a:outerShdw blurRad="406400" dist="50800" dir="5400000" algn="ctr" rotWithShape="0">
              <a:schemeClr val="bg1">
                <a:lumMod val="85000"/>
                <a:lumOff val="1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6674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13814</TotalTime>
  <Words>2231</Words>
  <Application>Microsoft Macintosh PowerPoint</Application>
  <PresentationFormat>Widescreen</PresentationFormat>
  <Paragraphs>231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Century Gothic</vt:lpstr>
      <vt:lpstr>Wingdings 3</vt:lpstr>
      <vt:lpstr>Ion</vt:lpstr>
      <vt:lpstr>Seasonal Trends in Pharmaceutical Sales</vt:lpstr>
      <vt:lpstr>Project Overview</vt:lpstr>
      <vt:lpstr>Dataset Summary</vt:lpstr>
      <vt:lpstr>Drug’s Covered</vt:lpstr>
      <vt:lpstr>Methodology &amp; Data Cleaning</vt:lpstr>
      <vt:lpstr>Respiratory / Allergy (R03, R06)</vt:lpstr>
      <vt:lpstr>Seasonal Sales Trends: Respiratory and Allergy Meds</vt:lpstr>
      <vt:lpstr>Seasonal Sales Trends: Respiratory and Allergy Meds</vt:lpstr>
      <vt:lpstr>Seasonal Sales Trends: Respiratory and Allergy Meds</vt:lpstr>
      <vt:lpstr>Forecasting with Holt-Winters Method</vt:lpstr>
      <vt:lpstr>ARIMA Analysis</vt:lpstr>
      <vt:lpstr>ARIMA Analysis Cont’d.</vt:lpstr>
      <vt:lpstr>Training and Validation</vt:lpstr>
      <vt:lpstr>HoltWinters –  Post-Trainings</vt:lpstr>
      <vt:lpstr>Psycholeptics  (N05B, N05C)</vt:lpstr>
      <vt:lpstr>Mental Health Medication Usage Over Time</vt:lpstr>
      <vt:lpstr>Anxiety Medications Regression Analysis</vt:lpstr>
      <vt:lpstr>Trends of Pain Relief Drugs</vt:lpstr>
      <vt:lpstr>Pain Relief / Anti-Inflammatories</vt:lpstr>
      <vt:lpstr>Heatmap of Average Drug  Sales by Cluster</vt:lpstr>
      <vt:lpstr>Challenges &amp; Limitations</vt:lpstr>
      <vt:lpstr>Future Expansions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  <vt:lpstr>Appendices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Chalker</dc:creator>
  <cp:lastModifiedBy>Jessica Chalker</cp:lastModifiedBy>
  <cp:revision>8</cp:revision>
  <dcterms:created xsi:type="dcterms:W3CDTF">2025-06-05T14:56:52Z</dcterms:created>
  <dcterms:modified xsi:type="dcterms:W3CDTF">2025-06-18T13:27:45Z</dcterms:modified>
</cp:coreProperties>
</file>